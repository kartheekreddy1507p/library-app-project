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F4A"/>
        </a:solidFill>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21295C"/>
          </a:solidFill>
          <a:ln/>
        </p:spPr>
      </p:sp>
      <p:sp>
        <p:nvSpPr>
          <p:cNvPr id="3" name="Shape 1"/>
          <p:cNvSpPr/>
          <p:nvPr/>
        </p:nvSpPr>
        <p:spPr>
          <a:xfrm>
            <a:off x="11247120" y="4572000"/>
            <a:ext cx="2743200" cy="2743200"/>
          </a:xfrm>
          <a:prstGeom prst="ellipse">
            <a:avLst/>
          </a:prstGeom>
          <a:solidFill>
            <a:srgbClr val="1C7293"/>
          </a:solidFill>
          <a:ln/>
        </p:spPr>
      </p:sp>
      <p:sp>
        <p:nvSpPr>
          <p:cNvPr id="4" name="Text 2"/>
          <p:cNvSpPr/>
          <p:nvPr/>
        </p:nvSpPr>
        <p:spPr>
          <a:xfrm>
            <a:off x="640080" y="502920"/>
            <a:ext cx="7315200" cy="320040"/>
          </a:xfrm>
          <a:prstGeom prst="rect">
            <a:avLst/>
          </a:prstGeom>
          <a:noFill/>
          <a:ln/>
        </p:spPr>
        <p:txBody>
          <a:bodyPr wrap="square" rtlCol="0" anchor="ctr"/>
          <a:lstStyle/>
          <a:p>
            <a:pPr indent="0" marL="0">
              <a:buNone/>
            </a:pPr>
            <a:r>
              <a:rPr lang="en-US" sz="1200" spc="200" kern="0" dirty="0">
                <a:solidFill>
                  <a:srgbClr val="6FA8C4"/>
                </a:solidFill>
                <a:latin typeface="Calibri" pitchFamily="34" charset="0"/>
                <a:ea typeface="Calibri" pitchFamily="34" charset="-122"/>
                <a:cs typeface="Calibri" pitchFamily="34" charset="-120"/>
              </a:rPr>
              <a:t>DATABASE AND BACKEND SYSTEMS</a:t>
            </a:r>
            <a:endParaRPr lang="en-US" sz="1200" dirty="0"/>
          </a:p>
        </p:txBody>
      </p:sp>
      <p:sp>
        <p:nvSpPr>
          <p:cNvPr id="5" name="Text 3"/>
          <p:cNvSpPr/>
          <p:nvPr/>
        </p:nvSpPr>
        <p:spPr>
          <a:xfrm>
            <a:off x="640080" y="914400"/>
            <a:ext cx="8686800" cy="155448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Library &amp; Archives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Self-Service Platform</a:t>
            </a:r>
            <a:endParaRPr lang="en-US" sz="4000" dirty="0"/>
          </a:p>
        </p:txBody>
      </p:sp>
      <p:sp>
        <p:nvSpPr>
          <p:cNvPr id="6" name="Text 4"/>
          <p:cNvSpPr/>
          <p:nvPr/>
        </p:nvSpPr>
        <p:spPr>
          <a:xfrm>
            <a:off x="640080" y="2514600"/>
            <a:ext cx="8686800" cy="457200"/>
          </a:xfrm>
          <a:prstGeom prst="rect">
            <a:avLst/>
          </a:prstGeom>
          <a:noFill/>
          <a:ln/>
        </p:spPr>
        <p:txBody>
          <a:bodyPr wrap="square" rtlCol="0" anchor="ctr"/>
          <a:lstStyle/>
          <a:p>
            <a:pPr indent="0" marL="0">
              <a:buNone/>
            </a:pPr>
            <a:r>
              <a:rPr lang="en-US" sz="1800" i="1" dirty="0">
                <a:solidFill>
                  <a:srgbClr val="CFE8F3"/>
                </a:solidFill>
                <a:latin typeface="Calibri" pitchFamily="34" charset="0"/>
                <a:ea typeface="Calibri" pitchFamily="34" charset="-122"/>
                <a:cs typeface="Calibri" pitchFamily="34" charset="-120"/>
              </a:rPr>
              <a:t>for Member Self-Service  —  Review 1 Presentation</a:t>
            </a:r>
            <a:endParaRPr lang="en-US" sz="1800" dirty="0"/>
          </a:p>
        </p:txBody>
      </p:sp>
      <p:sp>
        <p:nvSpPr>
          <p:cNvPr id="7" name="Text 5"/>
          <p:cNvSpPr/>
          <p:nvPr/>
        </p:nvSpPr>
        <p:spPr>
          <a:xfrm>
            <a:off x="640080" y="2971800"/>
            <a:ext cx="8686800" cy="365760"/>
          </a:xfrm>
          <a:prstGeom prst="rect">
            <a:avLst/>
          </a:prstGeom>
          <a:noFill/>
          <a:ln/>
        </p:spPr>
        <p:txBody>
          <a:bodyPr wrap="square" rtlCol="0" anchor="ctr"/>
          <a:lstStyle/>
          <a:p>
            <a:pPr indent="0" marL="0">
              <a:buNone/>
            </a:pPr>
            <a:r>
              <a:rPr lang="en-US" sz="1300" dirty="0">
                <a:solidFill>
                  <a:srgbClr val="6FA8C4"/>
                </a:solidFill>
                <a:latin typeface="Calibri" pitchFamily="34" charset="0"/>
                <a:ea typeface="Calibri" pitchFamily="34" charset="-122"/>
                <a:cs typeface="Calibri" pitchFamily="34" charset="-120"/>
              </a:rPr>
              <a:t>Section 10  •  Y25, 2026–2027, Trimester 4</a:t>
            </a:r>
            <a:endParaRPr lang="en-US" sz="1300" dirty="0"/>
          </a:p>
        </p:txBody>
      </p:sp>
      <p:sp>
        <p:nvSpPr>
          <p:cNvPr id="8" name="Text 6"/>
          <p:cNvSpPr/>
          <p:nvPr/>
        </p:nvSpPr>
        <p:spPr>
          <a:xfrm>
            <a:off x="640080" y="3794760"/>
            <a:ext cx="3657600" cy="274320"/>
          </a:xfrm>
          <a:prstGeom prst="rect">
            <a:avLst/>
          </a:prstGeom>
          <a:noFill/>
          <a:ln/>
        </p:spPr>
        <p:txBody>
          <a:bodyPr wrap="square" rtlCol="0" anchor="ctr"/>
          <a:lstStyle/>
          <a:p>
            <a:pPr indent="0" marL="0">
              <a:buNone/>
            </a:pPr>
            <a:r>
              <a:rPr lang="en-US" sz="1100" b="1" spc="150" kern="0" dirty="0">
                <a:solidFill>
                  <a:srgbClr val="6FA8C4"/>
                </a:solidFill>
                <a:latin typeface="Calibri" pitchFamily="34" charset="0"/>
                <a:ea typeface="Calibri" pitchFamily="34" charset="-122"/>
                <a:cs typeface="Calibri" pitchFamily="34" charset="-120"/>
              </a:rPr>
              <a:t>PRESENTED BY</a:t>
            </a:r>
            <a:endParaRPr lang="en-US" sz="1100" dirty="0"/>
          </a:p>
        </p:txBody>
      </p:sp>
      <p:sp>
        <p:nvSpPr>
          <p:cNvPr id="9" name="Text 7"/>
          <p:cNvSpPr/>
          <p:nvPr/>
        </p:nvSpPr>
        <p:spPr>
          <a:xfrm>
            <a:off x="640080" y="4160520"/>
            <a:ext cx="256032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Yaswanth Reddy</a:t>
            </a:r>
            <a:endParaRPr lang="en-US" sz="1400" dirty="0"/>
          </a:p>
        </p:txBody>
      </p:sp>
      <p:sp>
        <p:nvSpPr>
          <p:cNvPr id="10" name="Text 8"/>
          <p:cNvSpPr/>
          <p:nvPr/>
        </p:nvSpPr>
        <p:spPr>
          <a:xfrm>
            <a:off x="640080" y="4480560"/>
            <a:ext cx="2560320" cy="274320"/>
          </a:xfrm>
          <a:prstGeom prst="rect">
            <a:avLst/>
          </a:prstGeom>
          <a:noFill/>
          <a:ln/>
        </p:spPr>
        <p:txBody>
          <a:bodyPr wrap="square" rtlCol="0" anchor="ctr"/>
          <a:lstStyle/>
          <a:p>
            <a:pPr indent="0" marL="0">
              <a:buNone/>
            </a:pPr>
            <a:r>
              <a:rPr lang="en-US" sz="1200" dirty="0">
                <a:solidFill>
                  <a:srgbClr val="6FA8C4"/>
                </a:solidFill>
                <a:latin typeface="Calibri" pitchFamily="34" charset="0"/>
                <a:ea typeface="Calibri" pitchFamily="34" charset="-122"/>
                <a:cs typeface="Calibri" pitchFamily="34" charset="-120"/>
              </a:rPr>
              <a:t>2520080048</a:t>
            </a:r>
            <a:endParaRPr lang="en-US" sz="1200" dirty="0"/>
          </a:p>
        </p:txBody>
      </p:sp>
      <p:sp>
        <p:nvSpPr>
          <p:cNvPr id="11" name="Text 9"/>
          <p:cNvSpPr/>
          <p:nvPr/>
        </p:nvSpPr>
        <p:spPr>
          <a:xfrm>
            <a:off x="3383280" y="4160520"/>
            <a:ext cx="256032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Kartheek Reddy</a:t>
            </a:r>
            <a:endParaRPr lang="en-US" sz="1400" dirty="0"/>
          </a:p>
        </p:txBody>
      </p:sp>
      <p:sp>
        <p:nvSpPr>
          <p:cNvPr id="12" name="Text 10"/>
          <p:cNvSpPr/>
          <p:nvPr/>
        </p:nvSpPr>
        <p:spPr>
          <a:xfrm>
            <a:off x="3383280" y="4480560"/>
            <a:ext cx="2560320" cy="274320"/>
          </a:xfrm>
          <a:prstGeom prst="rect">
            <a:avLst/>
          </a:prstGeom>
          <a:noFill/>
          <a:ln/>
        </p:spPr>
        <p:txBody>
          <a:bodyPr wrap="square" rtlCol="0" anchor="ctr"/>
          <a:lstStyle/>
          <a:p>
            <a:pPr indent="0" marL="0">
              <a:buNone/>
            </a:pPr>
            <a:r>
              <a:rPr lang="en-US" sz="1200" dirty="0">
                <a:solidFill>
                  <a:srgbClr val="6FA8C4"/>
                </a:solidFill>
                <a:latin typeface="Calibri" pitchFamily="34" charset="0"/>
                <a:ea typeface="Calibri" pitchFamily="34" charset="-122"/>
                <a:cs typeface="Calibri" pitchFamily="34" charset="-120"/>
              </a:rPr>
              <a:t>2520090015</a:t>
            </a:r>
            <a:endParaRPr lang="en-US" sz="1200" dirty="0"/>
          </a:p>
        </p:txBody>
      </p:sp>
      <p:sp>
        <p:nvSpPr>
          <p:cNvPr id="13" name="Text 11"/>
          <p:cNvSpPr/>
          <p:nvPr/>
        </p:nvSpPr>
        <p:spPr>
          <a:xfrm>
            <a:off x="6126480" y="4160520"/>
            <a:ext cx="256032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Venkat Sai</a:t>
            </a:r>
            <a:endParaRPr lang="en-US" sz="1400" dirty="0"/>
          </a:p>
        </p:txBody>
      </p:sp>
      <p:sp>
        <p:nvSpPr>
          <p:cNvPr id="14" name="Text 12"/>
          <p:cNvSpPr/>
          <p:nvPr/>
        </p:nvSpPr>
        <p:spPr>
          <a:xfrm>
            <a:off x="6126480" y="4480560"/>
            <a:ext cx="2560320" cy="274320"/>
          </a:xfrm>
          <a:prstGeom prst="rect">
            <a:avLst/>
          </a:prstGeom>
          <a:noFill/>
          <a:ln/>
        </p:spPr>
        <p:txBody>
          <a:bodyPr wrap="square" rtlCol="0" anchor="ctr"/>
          <a:lstStyle/>
          <a:p>
            <a:pPr indent="0" marL="0">
              <a:buNone/>
            </a:pPr>
            <a:r>
              <a:rPr lang="en-US" sz="1200" dirty="0">
                <a:solidFill>
                  <a:srgbClr val="6FA8C4"/>
                </a:solidFill>
                <a:latin typeface="Calibri" pitchFamily="34" charset="0"/>
                <a:ea typeface="Calibri" pitchFamily="34" charset="-122"/>
                <a:cs typeface="Calibri" pitchFamily="34" charset="-120"/>
              </a:rPr>
              <a:t>2520090034</a:t>
            </a:r>
            <a:endParaRPr lang="en-US" sz="1200" dirty="0"/>
          </a:p>
        </p:txBody>
      </p:sp>
      <p:sp>
        <p:nvSpPr>
          <p:cNvPr id="15" name="Text 13"/>
          <p:cNvSpPr/>
          <p:nvPr/>
        </p:nvSpPr>
        <p:spPr>
          <a:xfrm>
            <a:off x="640080" y="5212080"/>
            <a:ext cx="7315200" cy="32004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Guide Name &amp; Signature: ______________________________</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Problem Statement</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Traditional library workflows still hold members back</a:t>
            </a:r>
            <a:endParaRPr lang="en-US" sz="1800" dirty="0"/>
          </a:p>
        </p:txBody>
      </p:sp>
      <p:sp>
        <p:nvSpPr>
          <p:cNvPr id="4" name="Shape 2"/>
          <p:cNvSpPr/>
          <p:nvPr/>
        </p:nvSpPr>
        <p:spPr>
          <a:xfrm>
            <a:off x="548640" y="1691640"/>
            <a:ext cx="5387188" cy="1737360"/>
          </a:xfrm>
          <a:prstGeom prst="roundRect">
            <a:avLst>
              <a:gd name="adj" fmla="val 4211"/>
            </a:avLst>
          </a:prstGeom>
          <a:solidFill>
            <a:srgbClr val="F4F8FA"/>
          </a:solidFill>
          <a:ln w="9525">
            <a:solidFill>
              <a:srgbClr val="E2E8EC"/>
            </a:solidFill>
            <a:prstDash val="solid"/>
          </a:ln>
        </p:spPr>
      </p:sp>
      <p:sp>
        <p:nvSpPr>
          <p:cNvPr id="5" name="Shape 3"/>
          <p:cNvSpPr/>
          <p:nvPr/>
        </p:nvSpPr>
        <p:spPr>
          <a:xfrm>
            <a:off x="749808" y="1892808"/>
            <a:ext cx="365760" cy="365760"/>
          </a:xfrm>
          <a:prstGeom prst="ellipse">
            <a:avLst/>
          </a:prstGeom>
          <a:solidFill>
            <a:srgbClr val="1C7293"/>
          </a:solidFill>
          <a:ln/>
        </p:spPr>
      </p:sp>
      <p:sp>
        <p:nvSpPr>
          <p:cNvPr id="6" name="Text 4"/>
          <p:cNvSpPr/>
          <p:nvPr/>
        </p:nvSpPr>
        <p:spPr>
          <a:xfrm>
            <a:off x="749808"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83794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Manual &amp; Web-Only Access</a:t>
            </a:r>
            <a:endParaRPr lang="en-US" sz="1400" dirty="0"/>
          </a:p>
        </p:txBody>
      </p:sp>
      <p:sp>
        <p:nvSpPr>
          <p:cNvPr id="8" name="Text 6"/>
          <p:cNvSpPr/>
          <p:nvPr/>
        </p:nvSpPr>
        <p:spPr>
          <a:xfrm>
            <a:off x="1234440" y="224028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Members rely on in-person visits or limited web portals to search, reserve, or renew items.</a:t>
            </a:r>
            <a:endParaRPr lang="en-US" sz="1150" dirty="0"/>
          </a:p>
        </p:txBody>
      </p:sp>
      <p:sp>
        <p:nvSpPr>
          <p:cNvPr id="9" name="Shape 7"/>
          <p:cNvSpPr/>
          <p:nvPr/>
        </p:nvSpPr>
        <p:spPr>
          <a:xfrm>
            <a:off x="6255868" y="1691640"/>
            <a:ext cx="5387188" cy="1737360"/>
          </a:xfrm>
          <a:prstGeom prst="roundRect">
            <a:avLst>
              <a:gd name="adj" fmla="val 4211"/>
            </a:avLst>
          </a:prstGeom>
          <a:solidFill>
            <a:srgbClr val="F4F8FA"/>
          </a:solidFill>
          <a:ln w="9525">
            <a:solidFill>
              <a:srgbClr val="E2E8EC"/>
            </a:solidFill>
            <a:prstDash val="solid"/>
          </a:ln>
        </p:spPr>
      </p:sp>
      <p:sp>
        <p:nvSpPr>
          <p:cNvPr id="10" name="Shape 8"/>
          <p:cNvSpPr/>
          <p:nvPr/>
        </p:nvSpPr>
        <p:spPr>
          <a:xfrm>
            <a:off x="6457036" y="1892808"/>
            <a:ext cx="365760" cy="365760"/>
          </a:xfrm>
          <a:prstGeom prst="ellipse">
            <a:avLst/>
          </a:prstGeom>
          <a:solidFill>
            <a:srgbClr val="E8A33D"/>
          </a:solidFill>
          <a:ln/>
        </p:spPr>
      </p:sp>
      <p:sp>
        <p:nvSpPr>
          <p:cNvPr id="11" name="Text 9"/>
          <p:cNvSpPr/>
          <p:nvPr/>
        </p:nvSpPr>
        <p:spPr>
          <a:xfrm>
            <a:off x="6457036"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41668" y="183794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Time-Consuming Processes</a:t>
            </a:r>
            <a:endParaRPr lang="en-US" sz="1400" dirty="0"/>
          </a:p>
        </p:txBody>
      </p:sp>
      <p:sp>
        <p:nvSpPr>
          <p:cNvPr id="13" name="Text 11"/>
          <p:cNvSpPr/>
          <p:nvPr/>
        </p:nvSpPr>
        <p:spPr>
          <a:xfrm>
            <a:off x="6941668" y="224028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Checking due dates and fines requires slow, manual lookups.</a:t>
            </a:r>
            <a:endParaRPr lang="en-US" sz="1150" dirty="0"/>
          </a:p>
        </p:txBody>
      </p:sp>
      <p:sp>
        <p:nvSpPr>
          <p:cNvPr id="14" name="Shape 12"/>
          <p:cNvSpPr/>
          <p:nvPr/>
        </p:nvSpPr>
        <p:spPr>
          <a:xfrm>
            <a:off x="548640" y="3703320"/>
            <a:ext cx="5387188" cy="1737360"/>
          </a:xfrm>
          <a:prstGeom prst="roundRect">
            <a:avLst>
              <a:gd name="adj" fmla="val 4211"/>
            </a:avLst>
          </a:prstGeom>
          <a:solidFill>
            <a:srgbClr val="F4F8FA"/>
          </a:solidFill>
          <a:ln w="9525">
            <a:solidFill>
              <a:srgbClr val="E2E8EC"/>
            </a:solidFill>
            <a:prstDash val="solid"/>
          </a:ln>
        </p:spPr>
      </p:sp>
      <p:sp>
        <p:nvSpPr>
          <p:cNvPr id="15" name="Shape 13"/>
          <p:cNvSpPr/>
          <p:nvPr/>
        </p:nvSpPr>
        <p:spPr>
          <a:xfrm>
            <a:off x="749808" y="3904488"/>
            <a:ext cx="365760" cy="365760"/>
          </a:xfrm>
          <a:prstGeom prst="ellipse">
            <a:avLst/>
          </a:prstGeom>
          <a:solidFill>
            <a:srgbClr val="3E8E5B"/>
          </a:solidFill>
          <a:ln/>
        </p:spPr>
      </p:sp>
      <p:sp>
        <p:nvSpPr>
          <p:cNvPr id="16" name="Text 14"/>
          <p:cNvSpPr/>
          <p:nvPr/>
        </p:nvSpPr>
        <p:spPr>
          <a:xfrm>
            <a:off x="749808" y="3904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234440" y="384962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Fragmented Records</a:t>
            </a:r>
            <a:endParaRPr lang="en-US" sz="1400" dirty="0"/>
          </a:p>
        </p:txBody>
      </p:sp>
      <p:sp>
        <p:nvSpPr>
          <p:cNvPr id="18" name="Text 16"/>
          <p:cNvSpPr/>
          <p:nvPr/>
        </p:nvSpPr>
        <p:spPr>
          <a:xfrm>
            <a:off x="1234440" y="425196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Borrowing history and fines are scattered across disconnected systems.</a:t>
            </a:r>
            <a:endParaRPr lang="en-US" sz="1150" dirty="0"/>
          </a:p>
        </p:txBody>
      </p:sp>
      <p:sp>
        <p:nvSpPr>
          <p:cNvPr id="19" name="Shape 17"/>
          <p:cNvSpPr/>
          <p:nvPr/>
        </p:nvSpPr>
        <p:spPr>
          <a:xfrm>
            <a:off x="6255868" y="3703320"/>
            <a:ext cx="5387188" cy="1737360"/>
          </a:xfrm>
          <a:prstGeom prst="roundRect">
            <a:avLst>
              <a:gd name="adj" fmla="val 4211"/>
            </a:avLst>
          </a:prstGeom>
          <a:solidFill>
            <a:srgbClr val="F4F8FA"/>
          </a:solidFill>
          <a:ln w="9525">
            <a:solidFill>
              <a:srgbClr val="E2E8EC"/>
            </a:solidFill>
            <a:prstDash val="solid"/>
          </a:ln>
        </p:spPr>
      </p:sp>
      <p:sp>
        <p:nvSpPr>
          <p:cNvPr id="20" name="Shape 18"/>
          <p:cNvSpPr/>
          <p:nvPr/>
        </p:nvSpPr>
        <p:spPr>
          <a:xfrm>
            <a:off x="6457036" y="3904488"/>
            <a:ext cx="365760" cy="365760"/>
          </a:xfrm>
          <a:prstGeom prst="ellipse">
            <a:avLst/>
          </a:prstGeom>
          <a:solidFill>
            <a:srgbClr val="6FA8C4"/>
          </a:solidFill>
          <a:ln/>
        </p:spPr>
      </p:sp>
      <p:sp>
        <p:nvSpPr>
          <p:cNvPr id="21" name="Text 19"/>
          <p:cNvSpPr/>
          <p:nvPr/>
        </p:nvSpPr>
        <p:spPr>
          <a:xfrm>
            <a:off x="6457036" y="3904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41668" y="384962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Weak Communication</a:t>
            </a:r>
            <a:endParaRPr lang="en-US" sz="1400" dirty="0"/>
          </a:p>
        </p:txBody>
      </p:sp>
      <p:sp>
        <p:nvSpPr>
          <p:cNvPr id="23" name="Text 21"/>
          <p:cNvSpPr/>
          <p:nvPr/>
        </p:nvSpPr>
        <p:spPr>
          <a:xfrm>
            <a:off x="6941668" y="425196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Members miss due-date reminders and library announcements.</a:t>
            </a:r>
            <a:endParaRPr lang="en-US" sz="1150" dirty="0"/>
          </a:p>
        </p:txBody>
      </p:sp>
      <p:sp>
        <p:nvSpPr>
          <p:cNvPr id="24" name="Text 22"/>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5" name="Text 23"/>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Existing System</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How library operations are handled today</a:t>
            </a:r>
            <a:endParaRPr lang="en-US" sz="1800" dirty="0"/>
          </a:p>
        </p:txBody>
      </p:sp>
      <p:sp>
        <p:nvSpPr>
          <p:cNvPr id="4" name="Shape 2"/>
          <p:cNvSpPr/>
          <p:nvPr/>
        </p:nvSpPr>
        <p:spPr>
          <a:xfrm>
            <a:off x="548640" y="1691640"/>
            <a:ext cx="5387188" cy="1737360"/>
          </a:xfrm>
          <a:prstGeom prst="roundRect">
            <a:avLst>
              <a:gd name="adj" fmla="val 4211"/>
            </a:avLst>
          </a:prstGeom>
          <a:solidFill>
            <a:srgbClr val="F4F8FA"/>
          </a:solidFill>
          <a:ln w="9525">
            <a:solidFill>
              <a:srgbClr val="E2E8EC"/>
            </a:solidFill>
            <a:prstDash val="solid"/>
          </a:ln>
        </p:spPr>
      </p:sp>
      <p:sp>
        <p:nvSpPr>
          <p:cNvPr id="5" name="Shape 3"/>
          <p:cNvSpPr/>
          <p:nvPr/>
        </p:nvSpPr>
        <p:spPr>
          <a:xfrm>
            <a:off x="749808" y="1892808"/>
            <a:ext cx="365760" cy="365760"/>
          </a:xfrm>
          <a:prstGeom prst="ellipse">
            <a:avLst/>
          </a:prstGeom>
          <a:solidFill>
            <a:srgbClr val="1C7293"/>
          </a:solidFill>
          <a:ln/>
        </p:spPr>
      </p:sp>
      <p:sp>
        <p:nvSpPr>
          <p:cNvPr id="6" name="Text 4"/>
          <p:cNvSpPr/>
          <p:nvPr/>
        </p:nvSpPr>
        <p:spPr>
          <a:xfrm>
            <a:off x="749808"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83794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Manual Registers &amp; Counters</a:t>
            </a:r>
            <a:endParaRPr lang="en-US" sz="1400" dirty="0"/>
          </a:p>
        </p:txBody>
      </p:sp>
      <p:sp>
        <p:nvSpPr>
          <p:cNvPr id="8" name="Text 6"/>
          <p:cNvSpPr/>
          <p:nvPr/>
        </p:nvSpPr>
        <p:spPr>
          <a:xfrm>
            <a:off x="1234440" y="224028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Reservations, renewals, and fine collection are handled physically at the front desk.</a:t>
            </a:r>
            <a:endParaRPr lang="en-US" sz="1150" dirty="0"/>
          </a:p>
        </p:txBody>
      </p:sp>
      <p:sp>
        <p:nvSpPr>
          <p:cNvPr id="9" name="Shape 7"/>
          <p:cNvSpPr/>
          <p:nvPr/>
        </p:nvSpPr>
        <p:spPr>
          <a:xfrm>
            <a:off x="6255868" y="1691640"/>
            <a:ext cx="5387188" cy="1737360"/>
          </a:xfrm>
          <a:prstGeom prst="roundRect">
            <a:avLst>
              <a:gd name="adj" fmla="val 4211"/>
            </a:avLst>
          </a:prstGeom>
          <a:solidFill>
            <a:srgbClr val="F4F8FA"/>
          </a:solidFill>
          <a:ln w="9525">
            <a:solidFill>
              <a:srgbClr val="E2E8EC"/>
            </a:solidFill>
            <a:prstDash val="solid"/>
          </a:ln>
        </p:spPr>
      </p:sp>
      <p:sp>
        <p:nvSpPr>
          <p:cNvPr id="10" name="Shape 8"/>
          <p:cNvSpPr/>
          <p:nvPr/>
        </p:nvSpPr>
        <p:spPr>
          <a:xfrm>
            <a:off x="6457036" y="1892808"/>
            <a:ext cx="365760" cy="365760"/>
          </a:xfrm>
          <a:prstGeom prst="ellipse">
            <a:avLst/>
          </a:prstGeom>
          <a:solidFill>
            <a:srgbClr val="E8A33D"/>
          </a:solidFill>
          <a:ln/>
        </p:spPr>
      </p:sp>
      <p:sp>
        <p:nvSpPr>
          <p:cNvPr id="11" name="Text 9"/>
          <p:cNvSpPr/>
          <p:nvPr/>
        </p:nvSpPr>
        <p:spPr>
          <a:xfrm>
            <a:off x="6457036"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6941668" y="183794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Search-Only Web Portal</a:t>
            </a:r>
            <a:endParaRPr lang="en-US" sz="1400" dirty="0"/>
          </a:p>
        </p:txBody>
      </p:sp>
      <p:sp>
        <p:nvSpPr>
          <p:cNvPr id="13" name="Text 11"/>
          <p:cNvSpPr/>
          <p:nvPr/>
        </p:nvSpPr>
        <p:spPr>
          <a:xfrm>
            <a:off x="6941668" y="224028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Where a portal exists, it supports catalog search only — no reservation, renewal, or fine payment online.</a:t>
            </a:r>
            <a:endParaRPr lang="en-US" sz="1150" dirty="0"/>
          </a:p>
        </p:txBody>
      </p:sp>
      <p:sp>
        <p:nvSpPr>
          <p:cNvPr id="14" name="Shape 12"/>
          <p:cNvSpPr/>
          <p:nvPr/>
        </p:nvSpPr>
        <p:spPr>
          <a:xfrm>
            <a:off x="548640" y="3703320"/>
            <a:ext cx="5387188" cy="1737360"/>
          </a:xfrm>
          <a:prstGeom prst="roundRect">
            <a:avLst>
              <a:gd name="adj" fmla="val 4211"/>
            </a:avLst>
          </a:prstGeom>
          <a:solidFill>
            <a:srgbClr val="F4F8FA"/>
          </a:solidFill>
          <a:ln w="9525">
            <a:solidFill>
              <a:srgbClr val="E2E8EC"/>
            </a:solidFill>
            <a:prstDash val="solid"/>
          </a:ln>
        </p:spPr>
      </p:sp>
      <p:sp>
        <p:nvSpPr>
          <p:cNvPr id="15" name="Shape 13"/>
          <p:cNvSpPr/>
          <p:nvPr/>
        </p:nvSpPr>
        <p:spPr>
          <a:xfrm>
            <a:off x="749808" y="3904488"/>
            <a:ext cx="365760" cy="365760"/>
          </a:xfrm>
          <a:prstGeom prst="ellipse">
            <a:avLst/>
          </a:prstGeom>
          <a:solidFill>
            <a:srgbClr val="3E8E5B"/>
          </a:solidFill>
          <a:ln/>
        </p:spPr>
      </p:sp>
      <p:sp>
        <p:nvSpPr>
          <p:cNvPr id="16" name="Text 14"/>
          <p:cNvSpPr/>
          <p:nvPr/>
        </p:nvSpPr>
        <p:spPr>
          <a:xfrm>
            <a:off x="749808" y="3904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234440" y="384962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Disconnected Records</a:t>
            </a:r>
            <a:endParaRPr lang="en-US" sz="1400" dirty="0"/>
          </a:p>
        </p:txBody>
      </p:sp>
      <p:sp>
        <p:nvSpPr>
          <p:cNvPr id="18" name="Text 16"/>
          <p:cNvSpPr/>
          <p:nvPr/>
        </p:nvSpPr>
        <p:spPr>
          <a:xfrm>
            <a:off x="1234440" y="425196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Borrowing history, dues, and fines are kept in separate spreadsheets or paper registers.</a:t>
            </a:r>
            <a:endParaRPr lang="en-US" sz="1150" dirty="0"/>
          </a:p>
        </p:txBody>
      </p:sp>
      <p:sp>
        <p:nvSpPr>
          <p:cNvPr id="19" name="Shape 17"/>
          <p:cNvSpPr/>
          <p:nvPr/>
        </p:nvSpPr>
        <p:spPr>
          <a:xfrm>
            <a:off x="6255868" y="3703320"/>
            <a:ext cx="5387188" cy="1737360"/>
          </a:xfrm>
          <a:prstGeom prst="roundRect">
            <a:avLst>
              <a:gd name="adj" fmla="val 4211"/>
            </a:avLst>
          </a:prstGeom>
          <a:solidFill>
            <a:srgbClr val="F4F8FA"/>
          </a:solidFill>
          <a:ln w="9525">
            <a:solidFill>
              <a:srgbClr val="E2E8EC"/>
            </a:solidFill>
            <a:prstDash val="solid"/>
          </a:ln>
        </p:spPr>
      </p:sp>
      <p:sp>
        <p:nvSpPr>
          <p:cNvPr id="20" name="Shape 18"/>
          <p:cNvSpPr/>
          <p:nvPr/>
        </p:nvSpPr>
        <p:spPr>
          <a:xfrm>
            <a:off x="6457036" y="3904488"/>
            <a:ext cx="365760" cy="365760"/>
          </a:xfrm>
          <a:prstGeom prst="ellipse">
            <a:avLst/>
          </a:prstGeom>
          <a:solidFill>
            <a:srgbClr val="6FA8C4"/>
          </a:solidFill>
          <a:ln/>
        </p:spPr>
      </p:sp>
      <p:sp>
        <p:nvSpPr>
          <p:cNvPr id="21" name="Text 19"/>
          <p:cNvSpPr/>
          <p:nvPr/>
        </p:nvSpPr>
        <p:spPr>
          <a:xfrm>
            <a:off x="6457036" y="390448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6941668" y="3849624"/>
            <a:ext cx="451850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No Automated Alerts</a:t>
            </a:r>
            <a:endParaRPr lang="en-US" sz="1400" dirty="0"/>
          </a:p>
        </p:txBody>
      </p:sp>
      <p:sp>
        <p:nvSpPr>
          <p:cNvPr id="23" name="Text 21"/>
          <p:cNvSpPr/>
          <p:nvPr/>
        </p:nvSpPr>
        <p:spPr>
          <a:xfrm>
            <a:off x="6941668" y="4251960"/>
            <a:ext cx="4518508" cy="105156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Members learn of due dates and updates only via notice boards or occasional phone calls.</a:t>
            </a:r>
            <a:endParaRPr lang="en-US" sz="1150" dirty="0"/>
          </a:p>
        </p:txBody>
      </p:sp>
      <p:sp>
        <p:nvSpPr>
          <p:cNvPr id="24" name="Shape 22"/>
          <p:cNvSpPr/>
          <p:nvPr/>
        </p:nvSpPr>
        <p:spPr>
          <a:xfrm>
            <a:off x="548640" y="5623560"/>
            <a:ext cx="11094415" cy="502920"/>
          </a:xfrm>
          <a:prstGeom prst="roundRect">
            <a:avLst>
              <a:gd name="adj" fmla="val 10909"/>
            </a:avLst>
          </a:prstGeom>
          <a:solidFill>
            <a:srgbClr val="FCEFDD"/>
          </a:solidFill>
          <a:ln/>
        </p:spPr>
      </p:sp>
      <p:sp>
        <p:nvSpPr>
          <p:cNvPr id="25" name="Text 23"/>
          <p:cNvSpPr/>
          <p:nvPr/>
        </p:nvSpPr>
        <p:spPr>
          <a:xfrm>
            <a:off x="777240" y="5623560"/>
            <a:ext cx="10637215" cy="502920"/>
          </a:xfrm>
          <a:prstGeom prst="rect">
            <a:avLst/>
          </a:prstGeom>
          <a:noFill/>
          <a:ln/>
        </p:spPr>
        <p:txBody>
          <a:bodyPr wrap="square" lIns="0" tIns="0" rIns="0" bIns="0" rtlCol="0" anchor="ctr"/>
          <a:lstStyle/>
          <a:p>
            <a:pPr indent="0" marL="0">
              <a:buNone/>
            </a:pPr>
            <a:r>
              <a:rPr lang="en-US" sz="1250" i="1" dirty="0">
                <a:solidFill>
                  <a:srgbClr val="1B2733"/>
                </a:solidFill>
                <a:latin typeface="Calibri" pitchFamily="34" charset="0"/>
                <a:ea typeface="Calibri" pitchFamily="34" charset="-122"/>
                <a:cs typeface="Calibri" pitchFamily="34" charset="-120"/>
              </a:rPr>
              <a:t>Net effect: no self-service, no real-time visibility, and no automated communication.</a:t>
            </a:r>
            <a:endParaRPr lang="en-US" sz="1250" dirty="0"/>
          </a:p>
        </p:txBody>
      </p:sp>
      <p:sp>
        <p:nvSpPr>
          <p:cNvPr id="26" name="Text 24"/>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7" name="Text 25"/>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Proposed System</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A self-service web platform members can use anytime, anywhere</a:t>
            </a:r>
            <a:endParaRPr lang="en-US" sz="1800" dirty="0"/>
          </a:p>
        </p:txBody>
      </p:sp>
      <p:sp>
        <p:nvSpPr>
          <p:cNvPr id="4" name="Shape 2"/>
          <p:cNvSpPr/>
          <p:nvPr/>
        </p:nvSpPr>
        <p:spPr>
          <a:xfrm>
            <a:off x="548640" y="1691640"/>
            <a:ext cx="3484778" cy="1920240"/>
          </a:xfrm>
          <a:prstGeom prst="roundRect">
            <a:avLst>
              <a:gd name="adj" fmla="val 3810"/>
            </a:avLst>
          </a:prstGeom>
          <a:solidFill>
            <a:srgbClr val="F4F8FA"/>
          </a:solidFill>
          <a:ln w="9525">
            <a:solidFill>
              <a:srgbClr val="E2E8EC"/>
            </a:solidFill>
            <a:prstDash val="solid"/>
          </a:ln>
        </p:spPr>
      </p:sp>
      <p:sp>
        <p:nvSpPr>
          <p:cNvPr id="5" name="Shape 3"/>
          <p:cNvSpPr/>
          <p:nvPr/>
        </p:nvSpPr>
        <p:spPr>
          <a:xfrm>
            <a:off x="749808" y="1892808"/>
            <a:ext cx="365760" cy="365760"/>
          </a:xfrm>
          <a:prstGeom prst="ellipse">
            <a:avLst/>
          </a:prstGeom>
          <a:solidFill>
            <a:srgbClr val="1C7293"/>
          </a:solidFill>
          <a:ln/>
        </p:spPr>
      </p:sp>
      <p:sp>
        <p:nvSpPr>
          <p:cNvPr id="6" name="Text 4"/>
          <p:cNvSpPr/>
          <p:nvPr/>
        </p:nvSpPr>
        <p:spPr>
          <a:xfrm>
            <a:off x="749808"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234440" y="183794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Register &amp; Browse</a:t>
            </a:r>
            <a:endParaRPr lang="en-US" sz="1400" dirty="0"/>
          </a:p>
        </p:txBody>
      </p:sp>
      <p:sp>
        <p:nvSpPr>
          <p:cNvPr id="8" name="Text 6"/>
          <p:cNvSpPr/>
          <p:nvPr/>
        </p:nvSpPr>
        <p:spPr>
          <a:xfrm>
            <a:off x="1234440" y="224028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Sign up and explore the full catalog online.</a:t>
            </a:r>
            <a:endParaRPr lang="en-US" sz="1150" dirty="0"/>
          </a:p>
        </p:txBody>
      </p:sp>
      <p:sp>
        <p:nvSpPr>
          <p:cNvPr id="9" name="Shape 7"/>
          <p:cNvSpPr/>
          <p:nvPr/>
        </p:nvSpPr>
        <p:spPr>
          <a:xfrm>
            <a:off x="4353458" y="1691640"/>
            <a:ext cx="3484778" cy="1920240"/>
          </a:xfrm>
          <a:prstGeom prst="roundRect">
            <a:avLst>
              <a:gd name="adj" fmla="val 3810"/>
            </a:avLst>
          </a:prstGeom>
          <a:solidFill>
            <a:srgbClr val="F4F8FA"/>
          </a:solidFill>
          <a:ln w="9525">
            <a:solidFill>
              <a:srgbClr val="E2E8EC"/>
            </a:solidFill>
            <a:prstDash val="solid"/>
          </a:ln>
        </p:spPr>
      </p:sp>
      <p:sp>
        <p:nvSpPr>
          <p:cNvPr id="10" name="Shape 8"/>
          <p:cNvSpPr/>
          <p:nvPr/>
        </p:nvSpPr>
        <p:spPr>
          <a:xfrm>
            <a:off x="4554626" y="1892808"/>
            <a:ext cx="365760" cy="365760"/>
          </a:xfrm>
          <a:prstGeom prst="ellipse">
            <a:avLst/>
          </a:prstGeom>
          <a:solidFill>
            <a:srgbClr val="E8A33D"/>
          </a:solidFill>
          <a:ln/>
        </p:spPr>
      </p:sp>
      <p:sp>
        <p:nvSpPr>
          <p:cNvPr id="11" name="Text 9"/>
          <p:cNvSpPr/>
          <p:nvPr/>
        </p:nvSpPr>
        <p:spPr>
          <a:xfrm>
            <a:off x="4554626"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5039258" y="183794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Reserve Resources</a:t>
            </a:r>
            <a:endParaRPr lang="en-US" sz="1400" dirty="0"/>
          </a:p>
        </p:txBody>
      </p:sp>
      <p:sp>
        <p:nvSpPr>
          <p:cNvPr id="13" name="Text 11"/>
          <p:cNvSpPr/>
          <p:nvPr/>
        </p:nvSpPr>
        <p:spPr>
          <a:xfrm>
            <a:off x="5039258" y="224028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Reserve items instantly and track history.</a:t>
            </a:r>
            <a:endParaRPr lang="en-US" sz="1150" dirty="0"/>
          </a:p>
        </p:txBody>
      </p:sp>
      <p:sp>
        <p:nvSpPr>
          <p:cNvPr id="14" name="Shape 12"/>
          <p:cNvSpPr/>
          <p:nvPr/>
        </p:nvSpPr>
        <p:spPr>
          <a:xfrm>
            <a:off x="8158277" y="1691640"/>
            <a:ext cx="3484778" cy="1920240"/>
          </a:xfrm>
          <a:prstGeom prst="roundRect">
            <a:avLst>
              <a:gd name="adj" fmla="val 3810"/>
            </a:avLst>
          </a:prstGeom>
          <a:solidFill>
            <a:srgbClr val="F4F8FA"/>
          </a:solidFill>
          <a:ln w="9525">
            <a:solidFill>
              <a:srgbClr val="E2E8EC"/>
            </a:solidFill>
            <a:prstDash val="solid"/>
          </a:ln>
        </p:spPr>
      </p:sp>
      <p:sp>
        <p:nvSpPr>
          <p:cNvPr id="15" name="Shape 13"/>
          <p:cNvSpPr/>
          <p:nvPr/>
        </p:nvSpPr>
        <p:spPr>
          <a:xfrm>
            <a:off x="8359445" y="1892808"/>
            <a:ext cx="365760" cy="365760"/>
          </a:xfrm>
          <a:prstGeom prst="ellipse">
            <a:avLst/>
          </a:prstGeom>
          <a:solidFill>
            <a:srgbClr val="3E8E5B"/>
          </a:solidFill>
          <a:ln/>
        </p:spPr>
      </p:sp>
      <p:sp>
        <p:nvSpPr>
          <p:cNvPr id="16" name="Text 14"/>
          <p:cNvSpPr/>
          <p:nvPr/>
        </p:nvSpPr>
        <p:spPr>
          <a:xfrm>
            <a:off x="8359445" y="1892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8844077" y="183794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Monitor Fines</a:t>
            </a:r>
            <a:endParaRPr lang="en-US" sz="1400" dirty="0"/>
          </a:p>
        </p:txBody>
      </p:sp>
      <p:sp>
        <p:nvSpPr>
          <p:cNvPr id="18" name="Text 16"/>
          <p:cNvSpPr/>
          <p:nvPr/>
        </p:nvSpPr>
        <p:spPr>
          <a:xfrm>
            <a:off x="8844077" y="224028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View outstanding fines and due dates anytime.</a:t>
            </a:r>
            <a:endParaRPr lang="en-US" sz="1150" dirty="0"/>
          </a:p>
        </p:txBody>
      </p:sp>
      <p:sp>
        <p:nvSpPr>
          <p:cNvPr id="19" name="Shape 17"/>
          <p:cNvSpPr/>
          <p:nvPr/>
        </p:nvSpPr>
        <p:spPr>
          <a:xfrm>
            <a:off x="548640" y="3886200"/>
            <a:ext cx="3484778" cy="1920240"/>
          </a:xfrm>
          <a:prstGeom prst="roundRect">
            <a:avLst>
              <a:gd name="adj" fmla="val 3810"/>
            </a:avLst>
          </a:prstGeom>
          <a:solidFill>
            <a:srgbClr val="F4F8FA"/>
          </a:solidFill>
          <a:ln w="9525">
            <a:solidFill>
              <a:srgbClr val="E2E8EC"/>
            </a:solidFill>
            <a:prstDash val="solid"/>
          </a:ln>
        </p:spPr>
      </p:sp>
      <p:sp>
        <p:nvSpPr>
          <p:cNvPr id="20" name="Shape 18"/>
          <p:cNvSpPr/>
          <p:nvPr/>
        </p:nvSpPr>
        <p:spPr>
          <a:xfrm>
            <a:off x="749808" y="4087368"/>
            <a:ext cx="365760" cy="365760"/>
          </a:xfrm>
          <a:prstGeom prst="ellipse">
            <a:avLst/>
          </a:prstGeom>
          <a:solidFill>
            <a:srgbClr val="6FA8C4"/>
          </a:solidFill>
          <a:ln/>
        </p:spPr>
      </p:sp>
      <p:sp>
        <p:nvSpPr>
          <p:cNvPr id="21" name="Text 19"/>
          <p:cNvSpPr/>
          <p:nvPr/>
        </p:nvSpPr>
        <p:spPr>
          <a:xfrm>
            <a:off x="749808"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234440" y="403250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Get Notified</a:t>
            </a:r>
            <a:endParaRPr lang="en-US" sz="1400" dirty="0"/>
          </a:p>
        </p:txBody>
      </p:sp>
      <p:sp>
        <p:nvSpPr>
          <p:cNvPr id="23" name="Text 21"/>
          <p:cNvSpPr/>
          <p:nvPr/>
        </p:nvSpPr>
        <p:spPr>
          <a:xfrm>
            <a:off x="1234440" y="443484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Real-time alerts for due dates &amp; reservations.</a:t>
            </a:r>
            <a:endParaRPr lang="en-US" sz="1150" dirty="0"/>
          </a:p>
        </p:txBody>
      </p:sp>
      <p:sp>
        <p:nvSpPr>
          <p:cNvPr id="24" name="Shape 22"/>
          <p:cNvSpPr/>
          <p:nvPr/>
        </p:nvSpPr>
        <p:spPr>
          <a:xfrm>
            <a:off x="4353458" y="3886200"/>
            <a:ext cx="3484778" cy="1920240"/>
          </a:xfrm>
          <a:prstGeom prst="roundRect">
            <a:avLst>
              <a:gd name="adj" fmla="val 3810"/>
            </a:avLst>
          </a:prstGeom>
          <a:solidFill>
            <a:srgbClr val="F4F8FA"/>
          </a:solidFill>
          <a:ln w="9525">
            <a:solidFill>
              <a:srgbClr val="E2E8EC"/>
            </a:solidFill>
            <a:prstDash val="solid"/>
          </a:ln>
        </p:spPr>
      </p:sp>
      <p:sp>
        <p:nvSpPr>
          <p:cNvPr id="25" name="Shape 23"/>
          <p:cNvSpPr/>
          <p:nvPr/>
        </p:nvSpPr>
        <p:spPr>
          <a:xfrm>
            <a:off x="4554626" y="4087368"/>
            <a:ext cx="365760" cy="365760"/>
          </a:xfrm>
          <a:prstGeom prst="ellipse">
            <a:avLst/>
          </a:prstGeom>
          <a:solidFill>
            <a:srgbClr val="1C7293"/>
          </a:solidFill>
          <a:ln/>
        </p:spPr>
      </p:sp>
      <p:sp>
        <p:nvSpPr>
          <p:cNvPr id="26" name="Text 24"/>
          <p:cNvSpPr/>
          <p:nvPr/>
        </p:nvSpPr>
        <p:spPr>
          <a:xfrm>
            <a:off x="4554626"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p:nvPr/>
        </p:nvSpPr>
        <p:spPr>
          <a:xfrm>
            <a:off x="5039258" y="403250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Local Caching</a:t>
            </a:r>
            <a:endParaRPr lang="en-US" sz="1400" dirty="0"/>
          </a:p>
        </p:txBody>
      </p:sp>
      <p:sp>
        <p:nvSpPr>
          <p:cNvPr id="28" name="Text 26"/>
          <p:cNvSpPr/>
          <p:nvPr/>
        </p:nvSpPr>
        <p:spPr>
          <a:xfrm>
            <a:off x="5039258" y="443484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Recently viewed data stays available offline.</a:t>
            </a:r>
            <a:endParaRPr lang="en-US" sz="1150" dirty="0"/>
          </a:p>
        </p:txBody>
      </p:sp>
      <p:sp>
        <p:nvSpPr>
          <p:cNvPr id="29" name="Shape 27"/>
          <p:cNvSpPr/>
          <p:nvPr/>
        </p:nvSpPr>
        <p:spPr>
          <a:xfrm>
            <a:off x="8158277" y="3886200"/>
            <a:ext cx="3484778" cy="1920240"/>
          </a:xfrm>
          <a:prstGeom prst="roundRect">
            <a:avLst>
              <a:gd name="adj" fmla="val 3810"/>
            </a:avLst>
          </a:prstGeom>
          <a:solidFill>
            <a:srgbClr val="F4F8FA"/>
          </a:solidFill>
          <a:ln w="9525">
            <a:solidFill>
              <a:srgbClr val="E2E8EC"/>
            </a:solidFill>
            <a:prstDash val="solid"/>
          </a:ln>
        </p:spPr>
      </p:sp>
      <p:sp>
        <p:nvSpPr>
          <p:cNvPr id="30" name="Shape 28"/>
          <p:cNvSpPr/>
          <p:nvPr/>
        </p:nvSpPr>
        <p:spPr>
          <a:xfrm>
            <a:off x="8359445" y="4087368"/>
            <a:ext cx="365760" cy="365760"/>
          </a:xfrm>
          <a:prstGeom prst="ellipse">
            <a:avLst/>
          </a:prstGeom>
          <a:solidFill>
            <a:srgbClr val="E8A33D"/>
          </a:solidFill>
          <a:ln/>
        </p:spPr>
      </p:sp>
      <p:sp>
        <p:nvSpPr>
          <p:cNvPr id="31" name="Text 29"/>
          <p:cNvSpPr/>
          <p:nvPr/>
        </p:nvSpPr>
        <p:spPr>
          <a:xfrm>
            <a:off x="8359445" y="40873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p:nvPr/>
        </p:nvSpPr>
        <p:spPr>
          <a:xfrm>
            <a:off x="8844077" y="4032504"/>
            <a:ext cx="2616098" cy="457200"/>
          </a:xfrm>
          <a:prstGeom prst="rect">
            <a:avLst/>
          </a:prstGeom>
          <a:noFill/>
          <a:ln/>
        </p:spPr>
        <p:txBody>
          <a:bodyPr wrap="square" lIns="0" tIns="0" rIns="0" bIns="0" rtlCol="0" anchor="t"/>
          <a:lstStyle/>
          <a:p>
            <a:pPr indent="0" marL="0">
              <a:buNone/>
            </a:pPr>
            <a:r>
              <a:rPr lang="en-US" sz="1400" b="1" dirty="0">
                <a:solidFill>
                  <a:srgbClr val="1B2733"/>
                </a:solidFill>
                <a:latin typeface="Calibri" pitchFamily="34" charset="0"/>
                <a:ea typeface="Calibri" pitchFamily="34" charset="-122"/>
                <a:cs typeface="Calibri" pitchFamily="34" charset="-120"/>
              </a:rPr>
              <a:t>Stay in Sync</a:t>
            </a:r>
            <a:endParaRPr lang="en-US" sz="1400" dirty="0"/>
          </a:p>
        </p:txBody>
      </p:sp>
      <p:sp>
        <p:nvSpPr>
          <p:cNvPr id="33" name="Text 31"/>
          <p:cNvSpPr/>
          <p:nvPr/>
        </p:nvSpPr>
        <p:spPr>
          <a:xfrm>
            <a:off x="8844077" y="4434840"/>
            <a:ext cx="2616098" cy="1234440"/>
          </a:xfrm>
          <a:prstGeom prst="rect">
            <a:avLst/>
          </a:prstGeom>
          <a:noFill/>
          <a:ln/>
        </p:spPr>
        <p:txBody>
          <a:bodyPr wrap="square" lIns="0" tIns="0" rIns="0" bIns="0" rtlCol="0" anchor="t"/>
          <a:lstStyle/>
          <a:p>
            <a:pPr indent="0" marL="0">
              <a:buNone/>
            </a:pPr>
            <a:r>
              <a:rPr lang="en-US" sz="1150" dirty="0">
                <a:solidFill>
                  <a:srgbClr val="5B6B76"/>
                </a:solidFill>
                <a:latin typeface="Calibri" pitchFamily="34" charset="0"/>
                <a:ea typeface="Calibri" pitchFamily="34" charset="-122"/>
                <a:cs typeface="Calibri" pitchFamily="34" charset="-120"/>
              </a:rPr>
              <a:t>Background sync keeps data consistent.</a:t>
            </a:r>
            <a:endParaRPr lang="en-US" sz="1150" dirty="0"/>
          </a:p>
        </p:txBody>
      </p:sp>
      <p:sp>
        <p:nvSpPr>
          <p:cNvPr id="34" name="Text 32"/>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35" name="Text 33"/>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Objectives</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What the platform aims to achieve for members and staff</a:t>
            </a:r>
            <a:endParaRPr lang="en-US" sz="1800" dirty="0"/>
          </a:p>
        </p:txBody>
      </p:sp>
      <p:sp>
        <p:nvSpPr>
          <p:cNvPr id="4" name="Shape 2"/>
          <p:cNvSpPr/>
          <p:nvPr/>
        </p:nvSpPr>
        <p:spPr>
          <a:xfrm>
            <a:off x="548640" y="1783080"/>
            <a:ext cx="411480" cy="411480"/>
          </a:xfrm>
          <a:prstGeom prst="ellipse">
            <a:avLst/>
          </a:prstGeom>
          <a:solidFill>
            <a:srgbClr val="1C7293"/>
          </a:solidFill>
          <a:ln/>
        </p:spPr>
      </p:sp>
      <p:sp>
        <p:nvSpPr>
          <p:cNvPr id="5" name="Text 3"/>
          <p:cNvSpPr/>
          <p:nvPr/>
        </p:nvSpPr>
        <p:spPr>
          <a:xfrm>
            <a:off x="548640" y="17830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88720" y="1783080"/>
            <a:ext cx="10362895" cy="41148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Provide round-the-clock online access to library services</a:t>
            </a:r>
            <a:endParaRPr lang="en-US" sz="1600" dirty="0"/>
          </a:p>
        </p:txBody>
      </p:sp>
      <p:sp>
        <p:nvSpPr>
          <p:cNvPr id="7" name="Shape 5"/>
          <p:cNvSpPr/>
          <p:nvPr/>
        </p:nvSpPr>
        <p:spPr>
          <a:xfrm>
            <a:off x="548640" y="2423160"/>
            <a:ext cx="11094415" cy="0"/>
          </a:xfrm>
          <a:prstGeom prst="line">
            <a:avLst/>
          </a:prstGeom>
          <a:noFill/>
          <a:ln w="9525">
            <a:solidFill>
              <a:srgbClr val="E2E8EC"/>
            </a:solidFill>
            <a:prstDash val="solid"/>
          </a:ln>
        </p:spPr>
      </p:sp>
      <p:sp>
        <p:nvSpPr>
          <p:cNvPr id="8" name="Shape 6"/>
          <p:cNvSpPr/>
          <p:nvPr/>
        </p:nvSpPr>
        <p:spPr>
          <a:xfrm>
            <a:off x="548640" y="2560320"/>
            <a:ext cx="411480" cy="411480"/>
          </a:xfrm>
          <a:prstGeom prst="ellipse">
            <a:avLst/>
          </a:prstGeom>
          <a:solidFill>
            <a:srgbClr val="E8A33D"/>
          </a:solidFill>
          <a:ln/>
        </p:spPr>
      </p:sp>
      <p:sp>
        <p:nvSpPr>
          <p:cNvPr id="9" name="Text 7"/>
          <p:cNvSpPr/>
          <p:nvPr/>
        </p:nvSpPr>
        <p:spPr>
          <a:xfrm>
            <a:off x="548640" y="25603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88720" y="2560320"/>
            <a:ext cx="10362895" cy="41148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Enable self-service reservation, renewal, and catalog browsing</a:t>
            </a:r>
            <a:endParaRPr lang="en-US" sz="1600" dirty="0"/>
          </a:p>
        </p:txBody>
      </p:sp>
      <p:sp>
        <p:nvSpPr>
          <p:cNvPr id="11" name="Shape 9"/>
          <p:cNvSpPr/>
          <p:nvPr/>
        </p:nvSpPr>
        <p:spPr>
          <a:xfrm>
            <a:off x="548640" y="3200400"/>
            <a:ext cx="11094415" cy="0"/>
          </a:xfrm>
          <a:prstGeom prst="line">
            <a:avLst/>
          </a:prstGeom>
          <a:noFill/>
          <a:ln w="9525">
            <a:solidFill>
              <a:srgbClr val="E2E8EC"/>
            </a:solidFill>
            <a:prstDash val="solid"/>
          </a:ln>
        </p:spPr>
      </p:sp>
      <p:sp>
        <p:nvSpPr>
          <p:cNvPr id="12" name="Shape 10"/>
          <p:cNvSpPr/>
          <p:nvPr/>
        </p:nvSpPr>
        <p:spPr>
          <a:xfrm>
            <a:off x="548640" y="3337560"/>
            <a:ext cx="411480" cy="411480"/>
          </a:xfrm>
          <a:prstGeom prst="ellipse">
            <a:avLst/>
          </a:prstGeom>
          <a:solidFill>
            <a:srgbClr val="1C7293"/>
          </a:solidFill>
          <a:ln/>
        </p:spPr>
      </p:sp>
      <p:sp>
        <p:nvSpPr>
          <p:cNvPr id="13" name="Text 11"/>
          <p:cNvSpPr/>
          <p:nvPr/>
        </p:nvSpPr>
        <p:spPr>
          <a:xfrm>
            <a:off x="548640" y="33375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88720" y="3337560"/>
            <a:ext cx="10362895" cy="41148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Automate fine calculation, tracking, and alerts</a:t>
            </a:r>
            <a:endParaRPr lang="en-US" sz="1600" dirty="0"/>
          </a:p>
        </p:txBody>
      </p:sp>
      <p:sp>
        <p:nvSpPr>
          <p:cNvPr id="15" name="Shape 13"/>
          <p:cNvSpPr/>
          <p:nvPr/>
        </p:nvSpPr>
        <p:spPr>
          <a:xfrm>
            <a:off x="548640" y="3977640"/>
            <a:ext cx="11094415" cy="0"/>
          </a:xfrm>
          <a:prstGeom prst="line">
            <a:avLst/>
          </a:prstGeom>
          <a:noFill/>
          <a:ln w="9525">
            <a:solidFill>
              <a:srgbClr val="E2E8EC"/>
            </a:solidFill>
            <a:prstDash val="solid"/>
          </a:ln>
        </p:spPr>
      </p:sp>
      <p:sp>
        <p:nvSpPr>
          <p:cNvPr id="16" name="Shape 14"/>
          <p:cNvSpPr/>
          <p:nvPr/>
        </p:nvSpPr>
        <p:spPr>
          <a:xfrm>
            <a:off x="548640" y="4114800"/>
            <a:ext cx="411480" cy="411480"/>
          </a:xfrm>
          <a:prstGeom prst="ellipse">
            <a:avLst/>
          </a:prstGeom>
          <a:solidFill>
            <a:srgbClr val="E8A33D"/>
          </a:solidFill>
          <a:ln/>
        </p:spPr>
      </p:sp>
      <p:sp>
        <p:nvSpPr>
          <p:cNvPr id="17" name="Text 15"/>
          <p:cNvSpPr/>
          <p:nvPr/>
        </p:nvSpPr>
        <p:spPr>
          <a:xfrm>
            <a:off x="548640" y="41148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88720" y="4114800"/>
            <a:ext cx="10362895" cy="41148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Keep borrowing and fine records accurate and synchronized</a:t>
            </a:r>
            <a:endParaRPr lang="en-US" sz="1600" dirty="0"/>
          </a:p>
        </p:txBody>
      </p:sp>
      <p:sp>
        <p:nvSpPr>
          <p:cNvPr id="19" name="Shape 17"/>
          <p:cNvSpPr/>
          <p:nvPr/>
        </p:nvSpPr>
        <p:spPr>
          <a:xfrm>
            <a:off x="548640" y="4754880"/>
            <a:ext cx="11094415" cy="0"/>
          </a:xfrm>
          <a:prstGeom prst="line">
            <a:avLst/>
          </a:prstGeom>
          <a:noFill/>
          <a:ln w="9525">
            <a:solidFill>
              <a:srgbClr val="E2E8EC"/>
            </a:solidFill>
            <a:prstDash val="solid"/>
          </a:ln>
        </p:spPr>
      </p:sp>
      <p:sp>
        <p:nvSpPr>
          <p:cNvPr id="20" name="Shape 18"/>
          <p:cNvSpPr/>
          <p:nvPr/>
        </p:nvSpPr>
        <p:spPr>
          <a:xfrm>
            <a:off x="548640" y="4892040"/>
            <a:ext cx="411480" cy="411480"/>
          </a:xfrm>
          <a:prstGeom prst="ellipse">
            <a:avLst/>
          </a:prstGeom>
          <a:solidFill>
            <a:srgbClr val="1C7293"/>
          </a:solidFill>
          <a:ln/>
        </p:spPr>
      </p:sp>
      <p:sp>
        <p:nvSpPr>
          <p:cNvPr id="21" name="Text 19"/>
          <p:cNvSpPr/>
          <p:nvPr/>
        </p:nvSpPr>
        <p:spPr>
          <a:xfrm>
            <a:off x="548640" y="48920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88720" y="4892040"/>
            <a:ext cx="10362895" cy="411480"/>
          </a:xfrm>
          <a:prstGeom prst="rect">
            <a:avLst/>
          </a:prstGeom>
          <a:noFill/>
          <a:ln/>
        </p:spPr>
        <p:txBody>
          <a:bodyPr wrap="square" lIns="0" tIns="0" rIns="0" bIns="0" rtlCol="0" anchor="ctr"/>
          <a:lstStyle/>
          <a:p>
            <a:pPr indent="0" marL="0">
              <a:buNone/>
            </a:pPr>
            <a:r>
              <a:rPr lang="en-US" sz="1600" dirty="0">
                <a:solidFill>
                  <a:srgbClr val="1B2733"/>
                </a:solidFill>
                <a:latin typeface="Calibri" pitchFamily="34" charset="0"/>
                <a:ea typeface="Calibri" pitchFamily="34" charset="-122"/>
                <a:cs typeface="Calibri" pitchFamily="34" charset="-120"/>
              </a:rPr>
              <a:t>Deliver a scalable, maintainable full-stack system</a:t>
            </a:r>
            <a:endParaRPr lang="en-US" sz="1600" dirty="0"/>
          </a:p>
        </p:txBody>
      </p:sp>
      <p:sp>
        <p:nvSpPr>
          <p:cNvPr id="23" name="Text 21"/>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4" name="Text 22"/>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Scope</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What this phase of the project covers</a:t>
            </a:r>
            <a:endParaRPr lang="en-US" sz="1800" dirty="0"/>
          </a:p>
        </p:txBody>
      </p:sp>
      <p:sp>
        <p:nvSpPr>
          <p:cNvPr id="4" name="Shape 2"/>
          <p:cNvSpPr/>
          <p:nvPr/>
        </p:nvSpPr>
        <p:spPr>
          <a:xfrm>
            <a:off x="548640" y="1691640"/>
            <a:ext cx="5318608" cy="4297680"/>
          </a:xfrm>
          <a:prstGeom prst="roundRect">
            <a:avLst>
              <a:gd name="adj" fmla="val 1277"/>
            </a:avLst>
          </a:prstGeom>
          <a:solidFill>
            <a:srgbClr val="EAF6EF"/>
          </a:solidFill>
          <a:ln/>
        </p:spPr>
      </p:sp>
      <p:sp>
        <p:nvSpPr>
          <p:cNvPr id="5" name="Shape 3"/>
          <p:cNvSpPr/>
          <p:nvPr/>
        </p:nvSpPr>
        <p:spPr>
          <a:xfrm>
            <a:off x="6324448" y="1691640"/>
            <a:ext cx="5318608" cy="4297680"/>
          </a:xfrm>
          <a:prstGeom prst="roundRect">
            <a:avLst>
              <a:gd name="adj" fmla="val 1277"/>
            </a:avLst>
          </a:prstGeom>
          <a:solidFill>
            <a:srgbClr val="F4F8FA"/>
          </a:solidFill>
          <a:ln/>
        </p:spPr>
      </p:sp>
      <p:sp>
        <p:nvSpPr>
          <p:cNvPr id="6" name="Text 4"/>
          <p:cNvSpPr/>
          <p:nvPr/>
        </p:nvSpPr>
        <p:spPr>
          <a:xfrm>
            <a:off x="822960" y="1920240"/>
            <a:ext cx="4769968" cy="365760"/>
          </a:xfrm>
          <a:prstGeom prst="rect">
            <a:avLst/>
          </a:prstGeom>
          <a:noFill/>
          <a:ln/>
        </p:spPr>
        <p:txBody>
          <a:bodyPr wrap="square" rtlCol="0" anchor="ctr"/>
          <a:lstStyle/>
          <a:p>
            <a:pPr indent="0" marL="0">
              <a:buNone/>
            </a:pPr>
            <a:r>
              <a:rPr lang="en-US" sz="1400" b="1" spc="100" kern="0" dirty="0">
                <a:solidFill>
                  <a:srgbClr val="3E8E5B"/>
                </a:solidFill>
                <a:latin typeface="Calibri" pitchFamily="34" charset="0"/>
                <a:ea typeface="Calibri" pitchFamily="34" charset="-122"/>
                <a:cs typeface="Calibri" pitchFamily="34" charset="-120"/>
              </a:rPr>
              <a:t>IN SCOPE</a:t>
            </a:r>
            <a:endParaRPr lang="en-US" sz="1400" dirty="0"/>
          </a:p>
        </p:txBody>
      </p:sp>
      <p:sp>
        <p:nvSpPr>
          <p:cNvPr id="7" name="Text 5"/>
          <p:cNvSpPr/>
          <p:nvPr/>
        </p:nvSpPr>
        <p:spPr>
          <a:xfrm>
            <a:off x="6598768" y="1920240"/>
            <a:ext cx="4769968" cy="365760"/>
          </a:xfrm>
          <a:prstGeom prst="rect">
            <a:avLst/>
          </a:prstGeom>
          <a:noFill/>
          <a:ln/>
        </p:spPr>
        <p:txBody>
          <a:bodyPr wrap="square" rtlCol="0" anchor="ctr"/>
          <a:lstStyle/>
          <a:p>
            <a:pPr indent="0" marL="0">
              <a:buNone/>
            </a:pPr>
            <a:r>
              <a:rPr lang="en-US" sz="1400" b="1" spc="100" kern="0" dirty="0">
                <a:solidFill>
                  <a:srgbClr val="5B6B76"/>
                </a:solidFill>
                <a:latin typeface="Calibri" pitchFamily="34" charset="0"/>
                <a:ea typeface="Calibri" pitchFamily="34" charset="-122"/>
                <a:cs typeface="Calibri" pitchFamily="34" charset="-120"/>
              </a:rPr>
              <a:t>OUT OF SCOPE (FUTURE PHASES)</a:t>
            </a:r>
            <a:endParaRPr lang="en-US" sz="1400" dirty="0"/>
          </a:p>
        </p:txBody>
      </p:sp>
      <p:sp>
        <p:nvSpPr>
          <p:cNvPr id="8" name="Shape 6"/>
          <p:cNvSpPr/>
          <p:nvPr/>
        </p:nvSpPr>
        <p:spPr>
          <a:xfrm>
            <a:off x="822960" y="2542032"/>
            <a:ext cx="109728" cy="109728"/>
          </a:xfrm>
          <a:prstGeom prst="ellipse">
            <a:avLst/>
          </a:prstGeom>
          <a:solidFill>
            <a:srgbClr val="3E8E5B"/>
          </a:solidFill>
          <a:ln/>
        </p:spPr>
      </p:sp>
      <p:sp>
        <p:nvSpPr>
          <p:cNvPr id="9" name="Text 7"/>
          <p:cNvSpPr/>
          <p:nvPr/>
        </p:nvSpPr>
        <p:spPr>
          <a:xfrm>
            <a:off x="1078992" y="2395728"/>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Member registration &amp; login</a:t>
            </a:r>
            <a:endParaRPr lang="en-US" sz="1300" dirty="0"/>
          </a:p>
        </p:txBody>
      </p:sp>
      <p:sp>
        <p:nvSpPr>
          <p:cNvPr id="10" name="Shape 8"/>
          <p:cNvSpPr/>
          <p:nvPr/>
        </p:nvSpPr>
        <p:spPr>
          <a:xfrm>
            <a:off x="822960" y="3108960"/>
            <a:ext cx="109728" cy="109728"/>
          </a:xfrm>
          <a:prstGeom prst="ellipse">
            <a:avLst/>
          </a:prstGeom>
          <a:solidFill>
            <a:srgbClr val="3E8E5B"/>
          </a:solidFill>
          <a:ln/>
        </p:spPr>
      </p:sp>
      <p:sp>
        <p:nvSpPr>
          <p:cNvPr id="11" name="Text 9"/>
          <p:cNvSpPr/>
          <p:nvPr/>
        </p:nvSpPr>
        <p:spPr>
          <a:xfrm>
            <a:off x="1078992" y="2962656"/>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Catalog browse &amp; search</a:t>
            </a:r>
            <a:endParaRPr lang="en-US" sz="1300" dirty="0"/>
          </a:p>
        </p:txBody>
      </p:sp>
      <p:sp>
        <p:nvSpPr>
          <p:cNvPr id="12" name="Shape 10"/>
          <p:cNvSpPr/>
          <p:nvPr/>
        </p:nvSpPr>
        <p:spPr>
          <a:xfrm>
            <a:off x="822960" y="3675888"/>
            <a:ext cx="109728" cy="109728"/>
          </a:xfrm>
          <a:prstGeom prst="ellipse">
            <a:avLst/>
          </a:prstGeom>
          <a:solidFill>
            <a:srgbClr val="3E8E5B"/>
          </a:solidFill>
          <a:ln/>
        </p:spPr>
      </p:sp>
      <p:sp>
        <p:nvSpPr>
          <p:cNvPr id="13" name="Text 11"/>
          <p:cNvSpPr/>
          <p:nvPr/>
        </p:nvSpPr>
        <p:spPr>
          <a:xfrm>
            <a:off x="1078992" y="3529584"/>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Reservation &amp; borrowing workflow</a:t>
            </a:r>
            <a:endParaRPr lang="en-US" sz="1300" dirty="0"/>
          </a:p>
        </p:txBody>
      </p:sp>
      <p:sp>
        <p:nvSpPr>
          <p:cNvPr id="14" name="Shape 12"/>
          <p:cNvSpPr/>
          <p:nvPr/>
        </p:nvSpPr>
        <p:spPr>
          <a:xfrm>
            <a:off x="822960" y="4242816"/>
            <a:ext cx="109728" cy="109728"/>
          </a:xfrm>
          <a:prstGeom prst="ellipse">
            <a:avLst/>
          </a:prstGeom>
          <a:solidFill>
            <a:srgbClr val="3E8E5B"/>
          </a:solidFill>
          <a:ln/>
        </p:spPr>
      </p:sp>
      <p:sp>
        <p:nvSpPr>
          <p:cNvPr id="15" name="Text 13"/>
          <p:cNvSpPr/>
          <p:nvPr/>
        </p:nvSpPr>
        <p:spPr>
          <a:xfrm>
            <a:off x="1078992" y="4096512"/>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Fine calculation &amp; tracking</a:t>
            </a:r>
            <a:endParaRPr lang="en-US" sz="1300" dirty="0"/>
          </a:p>
        </p:txBody>
      </p:sp>
      <p:sp>
        <p:nvSpPr>
          <p:cNvPr id="16" name="Shape 14"/>
          <p:cNvSpPr/>
          <p:nvPr/>
        </p:nvSpPr>
        <p:spPr>
          <a:xfrm>
            <a:off x="822960" y="4809744"/>
            <a:ext cx="109728" cy="109728"/>
          </a:xfrm>
          <a:prstGeom prst="ellipse">
            <a:avLst/>
          </a:prstGeom>
          <a:solidFill>
            <a:srgbClr val="3E8E5B"/>
          </a:solidFill>
          <a:ln/>
        </p:spPr>
      </p:sp>
      <p:sp>
        <p:nvSpPr>
          <p:cNvPr id="17" name="Text 15"/>
          <p:cNvSpPr/>
          <p:nvPr/>
        </p:nvSpPr>
        <p:spPr>
          <a:xfrm>
            <a:off x="1078992" y="4663440"/>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Due-date notifications</a:t>
            </a:r>
            <a:endParaRPr lang="en-US" sz="1300" dirty="0"/>
          </a:p>
        </p:txBody>
      </p:sp>
      <p:sp>
        <p:nvSpPr>
          <p:cNvPr id="18" name="Shape 16"/>
          <p:cNvSpPr/>
          <p:nvPr/>
        </p:nvSpPr>
        <p:spPr>
          <a:xfrm>
            <a:off x="822960" y="5376672"/>
            <a:ext cx="109728" cy="109728"/>
          </a:xfrm>
          <a:prstGeom prst="ellipse">
            <a:avLst/>
          </a:prstGeom>
          <a:solidFill>
            <a:srgbClr val="3E8E5B"/>
          </a:solidFill>
          <a:ln/>
        </p:spPr>
      </p:sp>
      <p:sp>
        <p:nvSpPr>
          <p:cNvPr id="19" name="Text 17"/>
          <p:cNvSpPr/>
          <p:nvPr/>
        </p:nvSpPr>
        <p:spPr>
          <a:xfrm>
            <a:off x="1078992" y="5230368"/>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Web application (React.js, Node.js, MySQL)</a:t>
            </a:r>
            <a:endParaRPr lang="en-US" sz="1300" dirty="0"/>
          </a:p>
        </p:txBody>
      </p:sp>
      <p:sp>
        <p:nvSpPr>
          <p:cNvPr id="20" name="Shape 18"/>
          <p:cNvSpPr/>
          <p:nvPr/>
        </p:nvSpPr>
        <p:spPr>
          <a:xfrm>
            <a:off x="6598768" y="2542032"/>
            <a:ext cx="109728" cy="109728"/>
          </a:xfrm>
          <a:prstGeom prst="ellipse">
            <a:avLst/>
          </a:prstGeom>
          <a:solidFill>
            <a:srgbClr val="5B6B76"/>
          </a:solidFill>
          <a:ln/>
        </p:spPr>
      </p:sp>
      <p:sp>
        <p:nvSpPr>
          <p:cNvPr id="21" name="Text 19"/>
          <p:cNvSpPr/>
          <p:nvPr/>
        </p:nvSpPr>
        <p:spPr>
          <a:xfrm>
            <a:off x="6854800" y="2395728"/>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Native mobile application</a:t>
            </a:r>
            <a:endParaRPr lang="en-US" sz="1300" dirty="0"/>
          </a:p>
        </p:txBody>
      </p:sp>
      <p:sp>
        <p:nvSpPr>
          <p:cNvPr id="22" name="Shape 20"/>
          <p:cNvSpPr/>
          <p:nvPr/>
        </p:nvSpPr>
        <p:spPr>
          <a:xfrm>
            <a:off x="6598768" y="3108960"/>
            <a:ext cx="109728" cy="109728"/>
          </a:xfrm>
          <a:prstGeom prst="ellipse">
            <a:avLst/>
          </a:prstGeom>
          <a:solidFill>
            <a:srgbClr val="5B6B76"/>
          </a:solidFill>
          <a:ln/>
        </p:spPr>
      </p:sp>
      <p:sp>
        <p:nvSpPr>
          <p:cNvPr id="23" name="Text 21"/>
          <p:cNvSpPr/>
          <p:nvPr/>
        </p:nvSpPr>
        <p:spPr>
          <a:xfrm>
            <a:off x="6854800" y="2962656"/>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Online fine payment gateway</a:t>
            </a:r>
            <a:endParaRPr lang="en-US" sz="1300" dirty="0"/>
          </a:p>
        </p:txBody>
      </p:sp>
      <p:sp>
        <p:nvSpPr>
          <p:cNvPr id="24" name="Shape 22"/>
          <p:cNvSpPr/>
          <p:nvPr/>
        </p:nvSpPr>
        <p:spPr>
          <a:xfrm>
            <a:off x="6598768" y="3675888"/>
            <a:ext cx="109728" cy="109728"/>
          </a:xfrm>
          <a:prstGeom prst="ellipse">
            <a:avLst/>
          </a:prstGeom>
          <a:solidFill>
            <a:srgbClr val="5B6B76"/>
          </a:solidFill>
          <a:ln/>
        </p:spPr>
      </p:sp>
      <p:sp>
        <p:nvSpPr>
          <p:cNvPr id="25" name="Text 23"/>
          <p:cNvSpPr/>
          <p:nvPr/>
        </p:nvSpPr>
        <p:spPr>
          <a:xfrm>
            <a:off x="6854800" y="3529584"/>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Multi-library / multi-branch support</a:t>
            </a:r>
            <a:endParaRPr lang="en-US" sz="1300" dirty="0"/>
          </a:p>
        </p:txBody>
      </p:sp>
      <p:sp>
        <p:nvSpPr>
          <p:cNvPr id="26" name="Shape 24"/>
          <p:cNvSpPr/>
          <p:nvPr/>
        </p:nvSpPr>
        <p:spPr>
          <a:xfrm>
            <a:off x="6598768" y="4242816"/>
            <a:ext cx="109728" cy="109728"/>
          </a:xfrm>
          <a:prstGeom prst="ellipse">
            <a:avLst/>
          </a:prstGeom>
          <a:solidFill>
            <a:srgbClr val="5B6B76"/>
          </a:solidFill>
          <a:ln/>
        </p:spPr>
      </p:sp>
      <p:sp>
        <p:nvSpPr>
          <p:cNvPr id="27" name="Text 25"/>
          <p:cNvSpPr/>
          <p:nvPr/>
        </p:nvSpPr>
        <p:spPr>
          <a:xfrm>
            <a:off x="6854800" y="4096512"/>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Smart book recommendation engine</a:t>
            </a:r>
            <a:endParaRPr lang="en-US" sz="1300" dirty="0"/>
          </a:p>
        </p:txBody>
      </p:sp>
      <p:sp>
        <p:nvSpPr>
          <p:cNvPr id="28" name="Shape 26"/>
          <p:cNvSpPr/>
          <p:nvPr/>
        </p:nvSpPr>
        <p:spPr>
          <a:xfrm>
            <a:off x="6598768" y="4809744"/>
            <a:ext cx="109728" cy="109728"/>
          </a:xfrm>
          <a:prstGeom prst="ellipse">
            <a:avLst/>
          </a:prstGeom>
          <a:solidFill>
            <a:srgbClr val="5B6B76"/>
          </a:solidFill>
          <a:ln/>
        </p:spPr>
      </p:sp>
      <p:sp>
        <p:nvSpPr>
          <p:cNvPr id="29" name="Text 27"/>
          <p:cNvSpPr/>
          <p:nvPr/>
        </p:nvSpPr>
        <p:spPr>
          <a:xfrm>
            <a:off x="6854800" y="4663440"/>
            <a:ext cx="4495648" cy="457200"/>
          </a:xfrm>
          <a:prstGeom prst="rect">
            <a:avLst/>
          </a:prstGeom>
          <a:noFill/>
          <a:ln/>
        </p:spPr>
        <p:txBody>
          <a:bodyPr wrap="square" lIns="0" tIns="0" rIns="0" bIns="0" rtlCol="0" anchor="t"/>
          <a:lstStyle/>
          <a:p>
            <a:pPr indent="0" marL="0">
              <a:buNone/>
            </a:pPr>
            <a:r>
              <a:rPr lang="en-US" sz="1300" dirty="0">
                <a:solidFill>
                  <a:srgbClr val="1B2733"/>
                </a:solidFill>
                <a:latin typeface="Calibri" pitchFamily="34" charset="0"/>
                <a:ea typeface="Calibri" pitchFamily="34" charset="-122"/>
                <a:cs typeface="Calibri" pitchFamily="34" charset="-120"/>
              </a:rPr>
              <a:t>Admin analytics dashboard</a:t>
            </a:r>
            <a:endParaRPr lang="en-US" sz="1300" dirty="0"/>
          </a:p>
        </p:txBody>
      </p:sp>
      <p:sp>
        <p:nvSpPr>
          <p:cNvPr id="30" name="Text 28"/>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31" name="Text 29"/>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Technology Identification</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Frameworks, platforms, and tools across the stack</a:t>
            </a:r>
            <a:endParaRPr lang="en-US" sz="1800" dirty="0"/>
          </a:p>
        </p:txBody>
      </p:sp>
      <p:sp>
        <p:nvSpPr>
          <p:cNvPr id="4" name="Shape 2"/>
          <p:cNvSpPr/>
          <p:nvPr/>
        </p:nvSpPr>
        <p:spPr>
          <a:xfrm>
            <a:off x="548640" y="1691640"/>
            <a:ext cx="3515258" cy="4297680"/>
          </a:xfrm>
          <a:prstGeom prst="roundRect">
            <a:avLst>
              <a:gd name="adj" fmla="val 1561"/>
            </a:avLst>
          </a:prstGeom>
          <a:solidFill>
            <a:srgbClr val="0B2F4A"/>
          </a:solidFill>
          <a:ln/>
        </p:spPr>
      </p:sp>
      <p:sp>
        <p:nvSpPr>
          <p:cNvPr id="5" name="Text 3"/>
          <p:cNvSpPr/>
          <p:nvPr/>
        </p:nvSpPr>
        <p:spPr>
          <a:xfrm>
            <a:off x="777240" y="1874520"/>
            <a:ext cx="3058058" cy="320040"/>
          </a:xfrm>
          <a:prstGeom prst="rect">
            <a:avLst/>
          </a:prstGeom>
          <a:noFill/>
          <a:ln/>
        </p:spPr>
        <p:txBody>
          <a:bodyPr wrap="square"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FRONTEND</a:t>
            </a:r>
            <a:endParaRPr lang="en-US" sz="1200" dirty="0"/>
          </a:p>
        </p:txBody>
      </p:sp>
      <p:sp>
        <p:nvSpPr>
          <p:cNvPr id="6" name="Text 4"/>
          <p:cNvSpPr/>
          <p:nvPr/>
        </p:nvSpPr>
        <p:spPr>
          <a:xfrm>
            <a:off x="777240" y="2331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React.js</a:t>
            </a:r>
            <a:endParaRPr lang="en-US" sz="1500" dirty="0"/>
          </a:p>
        </p:txBody>
      </p:sp>
      <p:sp>
        <p:nvSpPr>
          <p:cNvPr id="7" name="Text 5"/>
          <p:cNvSpPr/>
          <p:nvPr/>
        </p:nvSpPr>
        <p:spPr>
          <a:xfrm>
            <a:off x="777240" y="2715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Frontend UI library</a:t>
            </a:r>
            <a:endParaRPr lang="en-US" sz="1100" dirty="0"/>
          </a:p>
        </p:txBody>
      </p:sp>
      <p:sp>
        <p:nvSpPr>
          <p:cNvPr id="8" name="Text 6"/>
          <p:cNvSpPr/>
          <p:nvPr/>
        </p:nvSpPr>
        <p:spPr>
          <a:xfrm>
            <a:off x="777240" y="3474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React Router</a:t>
            </a:r>
            <a:endParaRPr lang="en-US" sz="1500" dirty="0"/>
          </a:p>
        </p:txBody>
      </p:sp>
      <p:sp>
        <p:nvSpPr>
          <p:cNvPr id="9" name="Text 7"/>
          <p:cNvSpPr/>
          <p:nvPr/>
        </p:nvSpPr>
        <p:spPr>
          <a:xfrm>
            <a:off x="777240" y="3858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Client-side navigation</a:t>
            </a:r>
            <a:endParaRPr lang="en-US" sz="1100" dirty="0"/>
          </a:p>
        </p:txBody>
      </p:sp>
      <p:sp>
        <p:nvSpPr>
          <p:cNvPr id="10" name="Text 8"/>
          <p:cNvSpPr/>
          <p:nvPr/>
        </p:nvSpPr>
        <p:spPr>
          <a:xfrm>
            <a:off x="777240" y="4617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Axios</a:t>
            </a:r>
            <a:endParaRPr lang="en-US" sz="1500" dirty="0"/>
          </a:p>
        </p:txBody>
      </p:sp>
      <p:sp>
        <p:nvSpPr>
          <p:cNvPr id="11" name="Text 9"/>
          <p:cNvSpPr/>
          <p:nvPr/>
        </p:nvSpPr>
        <p:spPr>
          <a:xfrm>
            <a:off x="777240" y="5001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Frontend-to-API requests</a:t>
            </a:r>
            <a:endParaRPr lang="en-US" sz="1100" dirty="0"/>
          </a:p>
        </p:txBody>
      </p:sp>
      <p:sp>
        <p:nvSpPr>
          <p:cNvPr id="12" name="Shape 10"/>
          <p:cNvSpPr/>
          <p:nvPr/>
        </p:nvSpPr>
        <p:spPr>
          <a:xfrm>
            <a:off x="4338218" y="1691640"/>
            <a:ext cx="3515258" cy="4297680"/>
          </a:xfrm>
          <a:prstGeom prst="roundRect">
            <a:avLst>
              <a:gd name="adj" fmla="val 1561"/>
            </a:avLst>
          </a:prstGeom>
          <a:solidFill>
            <a:srgbClr val="0B2F4A"/>
          </a:solidFill>
          <a:ln/>
        </p:spPr>
      </p:sp>
      <p:sp>
        <p:nvSpPr>
          <p:cNvPr id="13" name="Text 11"/>
          <p:cNvSpPr/>
          <p:nvPr/>
        </p:nvSpPr>
        <p:spPr>
          <a:xfrm>
            <a:off x="4566818" y="1874520"/>
            <a:ext cx="3058058" cy="320040"/>
          </a:xfrm>
          <a:prstGeom prst="rect">
            <a:avLst/>
          </a:prstGeom>
          <a:noFill/>
          <a:ln/>
        </p:spPr>
        <p:txBody>
          <a:bodyPr wrap="square"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BACKEND</a:t>
            </a:r>
            <a:endParaRPr lang="en-US" sz="1200" dirty="0"/>
          </a:p>
        </p:txBody>
      </p:sp>
      <p:sp>
        <p:nvSpPr>
          <p:cNvPr id="14" name="Text 12"/>
          <p:cNvSpPr/>
          <p:nvPr/>
        </p:nvSpPr>
        <p:spPr>
          <a:xfrm>
            <a:off x="4566818" y="2331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Node.js</a:t>
            </a:r>
            <a:endParaRPr lang="en-US" sz="1500" dirty="0"/>
          </a:p>
        </p:txBody>
      </p:sp>
      <p:sp>
        <p:nvSpPr>
          <p:cNvPr id="15" name="Text 13"/>
          <p:cNvSpPr/>
          <p:nvPr/>
        </p:nvSpPr>
        <p:spPr>
          <a:xfrm>
            <a:off x="4566818" y="2715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Backend runtime</a:t>
            </a:r>
            <a:endParaRPr lang="en-US" sz="1100" dirty="0"/>
          </a:p>
        </p:txBody>
      </p:sp>
      <p:sp>
        <p:nvSpPr>
          <p:cNvPr id="16" name="Text 14"/>
          <p:cNvSpPr/>
          <p:nvPr/>
        </p:nvSpPr>
        <p:spPr>
          <a:xfrm>
            <a:off x="4566818" y="3474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Express.js</a:t>
            </a:r>
            <a:endParaRPr lang="en-US" sz="1500" dirty="0"/>
          </a:p>
        </p:txBody>
      </p:sp>
      <p:sp>
        <p:nvSpPr>
          <p:cNvPr id="17" name="Text 15"/>
          <p:cNvSpPr/>
          <p:nvPr/>
        </p:nvSpPr>
        <p:spPr>
          <a:xfrm>
            <a:off x="4566818" y="3858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REST API framework</a:t>
            </a:r>
            <a:endParaRPr lang="en-US" sz="1100" dirty="0"/>
          </a:p>
        </p:txBody>
      </p:sp>
      <p:sp>
        <p:nvSpPr>
          <p:cNvPr id="18" name="Text 16"/>
          <p:cNvSpPr/>
          <p:nvPr/>
        </p:nvSpPr>
        <p:spPr>
          <a:xfrm>
            <a:off x="4566818" y="4617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MySQL</a:t>
            </a:r>
            <a:endParaRPr lang="en-US" sz="1500" dirty="0"/>
          </a:p>
        </p:txBody>
      </p:sp>
      <p:sp>
        <p:nvSpPr>
          <p:cNvPr id="19" name="Text 17"/>
          <p:cNvSpPr/>
          <p:nvPr/>
        </p:nvSpPr>
        <p:spPr>
          <a:xfrm>
            <a:off x="4566818" y="5001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Data storage &amp; management</a:t>
            </a:r>
            <a:endParaRPr lang="en-US" sz="1100" dirty="0"/>
          </a:p>
        </p:txBody>
      </p:sp>
      <p:sp>
        <p:nvSpPr>
          <p:cNvPr id="20" name="Shape 18"/>
          <p:cNvSpPr/>
          <p:nvPr/>
        </p:nvSpPr>
        <p:spPr>
          <a:xfrm>
            <a:off x="8127797" y="1691640"/>
            <a:ext cx="3515258" cy="4297680"/>
          </a:xfrm>
          <a:prstGeom prst="roundRect">
            <a:avLst>
              <a:gd name="adj" fmla="val 1561"/>
            </a:avLst>
          </a:prstGeom>
          <a:solidFill>
            <a:srgbClr val="0B2F4A"/>
          </a:solidFill>
          <a:ln/>
        </p:spPr>
      </p:sp>
      <p:sp>
        <p:nvSpPr>
          <p:cNvPr id="21" name="Text 19"/>
          <p:cNvSpPr/>
          <p:nvPr/>
        </p:nvSpPr>
        <p:spPr>
          <a:xfrm>
            <a:off x="8356397" y="1874520"/>
            <a:ext cx="3058058" cy="320040"/>
          </a:xfrm>
          <a:prstGeom prst="rect">
            <a:avLst/>
          </a:prstGeom>
          <a:noFill/>
          <a:ln/>
        </p:spPr>
        <p:txBody>
          <a:bodyPr wrap="square"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TOOLING</a:t>
            </a:r>
            <a:endParaRPr lang="en-US" sz="1200" dirty="0"/>
          </a:p>
        </p:txBody>
      </p:sp>
      <p:sp>
        <p:nvSpPr>
          <p:cNvPr id="22" name="Text 20"/>
          <p:cNvSpPr/>
          <p:nvPr/>
        </p:nvSpPr>
        <p:spPr>
          <a:xfrm>
            <a:off x="8356397" y="2331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Firebase Cloud Messaging</a:t>
            </a:r>
            <a:endParaRPr lang="en-US" sz="1500" dirty="0"/>
          </a:p>
        </p:txBody>
      </p:sp>
      <p:sp>
        <p:nvSpPr>
          <p:cNvPr id="23" name="Text 21"/>
          <p:cNvSpPr/>
          <p:nvPr/>
        </p:nvSpPr>
        <p:spPr>
          <a:xfrm>
            <a:off x="8356397" y="2715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Push notifications &amp; alerts</a:t>
            </a:r>
            <a:endParaRPr lang="en-US" sz="1100" dirty="0"/>
          </a:p>
        </p:txBody>
      </p:sp>
      <p:sp>
        <p:nvSpPr>
          <p:cNvPr id="24" name="Text 22"/>
          <p:cNvSpPr/>
          <p:nvPr/>
        </p:nvSpPr>
        <p:spPr>
          <a:xfrm>
            <a:off x="8356397" y="3474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Postman</a:t>
            </a:r>
            <a:endParaRPr lang="en-US" sz="1500" dirty="0"/>
          </a:p>
        </p:txBody>
      </p:sp>
      <p:sp>
        <p:nvSpPr>
          <p:cNvPr id="25" name="Text 23"/>
          <p:cNvSpPr/>
          <p:nvPr/>
        </p:nvSpPr>
        <p:spPr>
          <a:xfrm>
            <a:off x="8356397" y="3858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API testing &amp; debugging</a:t>
            </a:r>
            <a:endParaRPr lang="en-US" sz="1100" dirty="0"/>
          </a:p>
        </p:txBody>
      </p:sp>
      <p:sp>
        <p:nvSpPr>
          <p:cNvPr id="26" name="Text 24"/>
          <p:cNvSpPr/>
          <p:nvPr/>
        </p:nvSpPr>
        <p:spPr>
          <a:xfrm>
            <a:off x="8356397" y="4617720"/>
            <a:ext cx="3058058"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GitHub</a:t>
            </a:r>
            <a:endParaRPr lang="en-US" sz="1500" dirty="0"/>
          </a:p>
        </p:txBody>
      </p:sp>
      <p:sp>
        <p:nvSpPr>
          <p:cNvPr id="27" name="Text 25"/>
          <p:cNvSpPr/>
          <p:nvPr/>
        </p:nvSpPr>
        <p:spPr>
          <a:xfrm>
            <a:off x="8356397" y="5001768"/>
            <a:ext cx="3058058" cy="548640"/>
          </a:xfrm>
          <a:prstGeom prst="rect">
            <a:avLst/>
          </a:prstGeom>
          <a:noFill/>
          <a:ln/>
        </p:spPr>
        <p:txBody>
          <a:bodyPr wrap="square" rtlCol="0" anchor="ctr"/>
          <a:lstStyle/>
          <a:p>
            <a:pPr indent="0" marL="0">
              <a:buNone/>
            </a:pPr>
            <a:r>
              <a:rPr lang="en-US" sz="1100" dirty="0">
                <a:solidFill>
                  <a:srgbClr val="CFE8F3"/>
                </a:solidFill>
                <a:latin typeface="Calibri" pitchFamily="34" charset="0"/>
                <a:ea typeface="Calibri" pitchFamily="34" charset="-122"/>
                <a:cs typeface="Calibri" pitchFamily="34" charset="-120"/>
              </a:rPr>
              <a:t>Version control &amp; collaboration</a:t>
            </a:r>
            <a:endParaRPr lang="en-US" sz="1100" dirty="0"/>
          </a:p>
        </p:txBody>
      </p:sp>
      <p:sp>
        <p:nvSpPr>
          <p:cNvPr id="28" name="Text 26"/>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9" name="Text 27"/>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Basic Architecture</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A three-tier web architecture: React.js, Node.js, and MySQL</a:t>
            </a:r>
            <a:endParaRPr lang="en-US" sz="1800" dirty="0"/>
          </a:p>
        </p:txBody>
      </p:sp>
      <p:sp>
        <p:nvSpPr>
          <p:cNvPr id="4" name="Shape 2"/>
          <p:cNvSpPr/>
          <p:nvPr/>
        </p:nvSpPr>
        <p:spPr>
          <a:xfrm>
            <a:off x="548640" y="1691640"/>
            <a:ext cx="3515258" cy="3200400"/>
          </a:xfrm>
          <a:prstGeom prst="roundRect">
            <a:avLst>
              <a:gd name="adj" fmla="val 1714"/>
            </a:avLst>
          </a:prstGeom>
          <a:solidFill>
            <a:srgbClr val="0B2F4A"/>
          </a:solidFill>
          <a:ln/>
        </p:spPr>
      </p:sp>
      <p:sp>
        <p:nvSpPr>
          <p:cNvPr id="5" name="Text 3"/>
          <p:cNvSpPr/>
          <p:nvPr/>
        </p:nvSpPr>
        <p:spPr>
          <a:xfrm>
            <a:off x="777240" y="1874520"/>
            <a:ext cx="3058058"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Frontend</a:t>
            </a:r>
            <a:endParaRPr lang="en-US" sz="1600" dirty="0"/>
          </a:p>
        </p:txBody>
      </p:sp>
      <p:sp>
        <p:nvSpPr>
          <p:cNvPr id="6" name="Text 4"/>
          <p:cNvSpPr/>
          <p:nvPr/>
        </p:nvSpPr>
        <p:spPr>
          <a:xfrm>
            <a:off x="777240" y="2240280"/>
            <a:ext cx="3058058" cy="320040"/>
          </a:xfrm>
          <a:prstGeom prst="rect">
            <a:avLst/>
          </a:prstGeom>
          <a:noFill/>
          <a:ln/>
        </p:spPr>
        <p:txBody>
          <a:bodyPr wrap="square" rtlCol="0" anchor="ctr"/>
          <a:lstStyle/>
          <a:p>
            <a:pPr indent="0" marL="0">
              <a:buNone/>
            </a:pPr>
            <a:r>
              <a:rPr lang="en-US" sz="1200" i="1" dirty="0">
                <a:solidFill>
                  <a:srgbClr val="E8A33D"/>
                </a:solidFill>
                <a:latin typeface="Calibri" pitchFamily="34" charset="0"/>
                <a:ea typeface="Calibri" pitchFamily="34" charset="-122"/>
                <a:cs typeface="Calibri" pitchFamily="34" charset="-120"/>
              </a:rPr>
              <a:t>React.js</a:t>
            </a:r>
            <a:endParaRPr lang="en-US" sz="1200" dirty="0"/>
          </a:p>
        </p:txBody>
      </p:sp>
      <p:sp>
        <p:nvSpPr>
          <p:cNvPr id="7" name="Text 5"/>
          <p:cNvSpPr/>
          <p:nvPr/>
        </p:nvSpPr>
        <p:spPr>
          <a:xfrm>
            <a:off x="777240" y="26974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Component-based UI</a:t>
            </a:r>
            <a:endParaRPr lang="en-US" sz="1200" dirty="0"/>
          </a:p>
        </p:txBody>
      </p:sp>
      <p:sp>
        <p:nvSpPr>
          <p:cNvPr id="8" name="Text 6"/>
          <p:cNvSpPr/>
          <p:nvPr/>
        </p:nvSpPr>
        <p:spPr>
          <a:xfrm>
            <a:off x="777240" y="31546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React Router (navigation)</a:t>
            </a:r>
            <a:endParaRPr lang="en-US" sz="1200" dirty="0"/>
          </a:p>
        </p:txBody>
      </p:sp>
      <p:sp>
        <p:nvSpPr>
          <p:cNvPr id="9" name="Text 7"/>
          <p:cNvSpPr/>
          <p:nvPr/>
        </p:nvSpPr>
        <p:spPr>
          <a:xfrm>
            <a:off x="777240" y="36118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Axios (API calls)</a:t>
            </a:r>
            <a:endParaRPr lang="en-US" sz="1200" dirty="0"/>
          </a:p>
        </p:txBody>
      </p:sp>
      <p:sp>
        <p:nvSpPr>
          <p:cNvPr id="10" name="Shape 8"/>
          <p:cNvSpPr/>
          <p:nvPr/>
        </p:nvSpPr>
        <p:spPr>
          <a:xfrm>
            <a:off x="4338218" y="1691640"/>
            <a:ext cx="3515258" cy="3200400"/>
          </a:xfrm>
          <a:prstGeom prst="roundRect">
            <a:avLst>
              <a:gd name="adj" fmla="val 1714"/>
            </a:avLst>
          </a:prstGeom>
          <a:solidFill>
            <a:srgbClr val="0B2F4A"/>
          </a:solidFill>
          <a:ln/>
        </p:spPr>
      </p:sp>
      <p:sp>
        <p:nvSpPr>
          <p:cNvPr id="11" name="Text 9"/>
          <p:cNvSpPr/>
          <p:nvPr/>
        </p:nvSpPr>
        <p:spPr>
          <a:xfrm>
            <a:off x="4566818" y="1874520"/>
            <a:ext cx="3058058"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Backend</a:t>
            </a:r>
            <a:endParaRPr lang="en-US" sz="1600" dirty="0"/>
          </a:p>
        </p:txBody>
      </p:sp>
      <p:sp>
        <p:nvSpPr>
          <p:cNvPr id="12" name="Text 10"/>
          <p:cNvSpPr/>
          <p:nvPr/>
        </p:nvSpPr>
        <p:spPr>
          <a:xfrm>
            <a:off x="4566818" y="2240280"/>
            <a:ext cx="3058058" cy="320040"/>
          </a:xfrm>
          <a:prstGeom prst="rect">
            <a:avLst/>
          </a:prstGeom>
          <a:noFill/>
          <a:ln/>
        </p:spPr>
        <p:txBody>
          <a:bodyPr wrap="square" rtlCol="0" anchor="ctr"/>
          <a:lstStyle/>
          <a:p>
            <a:pPr indent="0" marL="0">
              <a:buNone/>
            </a:pPr>
            <a:r>
              <a:rPr lang="en-US" sz="1200" i="1" dirty="0">
                <a:solidFill>
                  <a:srgbClr val="E8A33D"/>
                </a:solidFill>
                <a:latin typeface="Calibri" pitchFamily="34" charset="0"/>
                <a:ea typeface="Calibri" pitchFamily="34" charset="-122"/>
                <a:cs typeface="Calibri" pitchFamily="34" charset="-120"/>
              </a:rPr>
              <a:t>Node.js • Express.js</a:t>
            </a:r>
            <a:endParaRPr lang="en-US" sz="1200" dirty="0"/>
          </a:p>
        </p:txBody>
      </p:sp>
      <p:sp>
        <p:nvSpPr>
          <p:cNvPr id="13" name="Text 11"/>
          <p:cNvSpPr/>
          <p:nvPr/>
        </p:nvSpPr>
        <p:spPr>
          <a:xfrm>
            <a:off x="4566818" y="26974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REST endpoints</a:t>
            </a:r>
            <a:endParaRPr lang="en-US" sz="1200" dirty="0"/>
          </a:p>
        </p:txBody>
      </p:sp>
      <p:sp>
        <p:nvSpPr>
          <p:cNvPr id="14" name="Text 12"/>
          <p:cNvSpPr/>
          <p:nvPr/>
        </p:nvSpPr>
        <p:spPr>
          <a:xfrm>
            <a:off x="4566818" y="31546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Business logic layer</a:t>
            </a:r>
            <a:endParaRPr lang="en-US" sz="1200" dirty="0"/>
          </a:p>
        </p:txBody>
      </p:sp>
      <p:sp>
        <p:nvSpPr>
          <p:cNvPr id="15" name="Text 13"/>
          <p:cNvSpPr/>
          <p:nvPr/>
        </p:nvSpPr>
        <p:spPr>
          <a:xfrm>
            <a:off x="4566818" y="36118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Auth &amp; session handling</a:t>
            </a:r>
            <a:endParaRPr lang="en-US" sz="1200" dirty="0"/>
          </a:p>
        </p:txBody>
      </p:sp>
      <p:sp>
        <p:nvSpPr>
          <p:cNvPr id="16" name="Shape 14"/>
          <p:cNvSpPr/>
          <p:nvPr/>
        </p:nvSpPr>
        <p:spPr>
          <a:xfrm>
            <a:off x="8127797" y="1691640"/>
            <a:ext cx="3515258" cy="3200400"/>
          </a:xfrm>
          <a:prstGeom prst="roundRect">
            <a:avLst>
              <a:gd name="adj" fmla="val 1714"/>
            </a:avLst>
          </a:prstGeom>
          <a:solidFill>
            <a:srgbClr val="0B2F4A"/>
          </a:solidFill>
          <a:ln/>
        </p:spPr>
      </p:sp>
      <p:sp>
        <p:nvSpPr>
          <p:cNvPr id="17" name="Text 15"/>
          <p:cNvSpPr/>
          <p:nvPr/>
        </p:nvSpPr>
        <p:spPr>
          <a:xfrm>
            <a:off x="8356397" y="1874520"/>
            <a:ext cx="3058058"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Database</a:t>
            </a:r>
            <a:endParaRPr lang="en-US" sz="1600" dirty="0"/>
          </a:p>
        </p:txBody>
      </p:sp>
      <p:sp>
        <p:nvSpPr>
          <p:cNvPr id="18" name="Text 16"/>
          <p:cNvSpPr/>
          <p:nvPr/>
        </p:nvSpPr>
        <p:spPr>
          <a:xfrm>
            <a:off x="8356397" y="2240280"/>
            <a:ext cx="3058058" cy="320040"/>
          </a:xfrm>
          <a:prstGeom prst="rect">
            <a:avLst/>
          </a:prstGeom>
          <a:noFill/>
          <a:ln/>
        </p:spPr>
        <p:txBody>
          <a:bodyPr wrap="square" rtlCol="0" anchor="ctr"/>
          <a:lstStyle/>
          <a:p>
            <a:pPr indent="0" marL="0">
              <a:buNone/>
            </a:pPr>
            <a:r>
              <a:rPr lang="en-US" sz="1200" i="1" dirty="0">
                <a:solidFill>
                  <a:srgbClr val="E8A33D"/>
                </a:solidFill>
                <a:latin typeface="Calibri" pitchFamily="34" charset="0"/>
                <a:ea typeface="Calibri" pitchFamily="34" charset="-122"/>
                <a:cs typeface="Calibri" pitchFamily="34" charset="-120"/>
              </a:rPr>
              <a:t>MySQL</a:t>
            </a:r>
            <a:endParaRPr lang="en-US" sz="1200" dirty="0"/>
          </a:p>
        </p:txBody>
      </p:sp>
      <p:sp>
        <p:nvSpPr>
          <p:cNvPr id="19" name="Text 17"/>
          <p:cNvSpPr/>
          <p:nvPr/>
        </p:nvSpPr>
        <p:spPr>
          <a:xfrm>
            <a:off x="8356397" y="26974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Relational data storage</a:t>
            </a:r>
            <a:endParaRPr lang="en-US" sz="1200" dirty="0"/>
          </a:p>
        </p:txBody>
      </p:sp>
      <p:sp>
        <p:nvSpPr>
          <p:cNvPr id="20" name="Text 18"/>
          <p:cNvSpPr/>
          <p:nvPr/>
        </p:nvSpPr>
        <p:spPr>
          <a:xfrm>
            <a:off x="8356397" y="31546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Books, members &amp; fines</a:t>
            </a:r>
            <a:endParaRPr lang="en-US" sz="1200" dirty="0"/>
          </a:p>
        </p:txBody>
      </p:sp>
      <p:sp>
        <p:nvSpPr>
          <p:cNvPr id="21" name="Text 19"/>
          <p:cNvSpPr/>
          <p:nvPr/>
        </p:nvSpPr>
        <p:spPr>
          <a:xfrm>
            <a:off x="8356397" y="3611880"/>
            <a:ext cx="3058058" cy="411480"/>
          </a:xfrm>
          <a:prstGeom prst="rect">
            <a:avLst/>
          </a:prstGeom>
          <a:noFill/>
          <a:ln/>
        </p:spPr>
        <p:txBody>
          <a:bodyPr wrap="square" rtlCol="0" anchor="ctr"/>
          <a:lstStyle/>
          <a:p>
            <a:pPr indent="0" marL="0">
              <a:buNone/>
            </a:pPr>
            <a:r>
              <a:rPr lang="en-US" sz="1200" dirty="0">
                <a:solidFill>
                  <a:srgbClr val="CFE8F3"/>
                </a:solidFill>
                <a:latin typeface="Calibri" pitchFamily="34" charset="0"/>
                <a:ea typeface="Calibri" pitchFamily="34" charset="-122"/>
                <a:cs typeface="Calibri" pitchFamily="34" charset="-120"/>
              </a:rPr>
              <a:t>•  Reservation records</a:t>
            </a:r>
            <a:endParaRPr lang="en-US" sz="1200" dirty="0"/>
          </a:p>
        </p:txBody>
      </p:sp>
      <p:sp>
        <p:nvSpPr>
          <p:cNvPr id="22" name="Text 20"/>
          <p:cNvSpPr/>
          <p:nvPr/>
        </p:nvSpPr>
        <p:spPr>
          <a:xfrm>
            <a:off x="548640" y="5120640"/>
            <a:ext cx="11094415" cy="731520"/>
          </a:xfrm>
          <a:prstGeom prst="rect">
            <a:avLst/>
          </a:prstGeom>
          <a:noFill/>
          <a:ln/>
        </p:spPr>
        <p:txBody>
          <a:bodyPr wrap="square" rtlCol="0" anchor="ctr"/>
          <a:lstStyle/>
          <a:p>
            <a:pPr indent="0" marL="0">
              <a:buNone/>
            </a:pPr>
            <a:r>
              <a:rPr lang="en-US" sz="1300" i="1" dirty="0">
                <a:solidFill>
                  <a:srgbClr val="5B6B76"/>
                </a:solidFill>
                <a:latin typeface="Calibri" pitchFamily="34" charset="0"/>
                <a:ea typeface="Calibri" pitchFamily="34" charset="-122"/>
                <a:cs typeface="Calibri" pitchFamily="34" charset="-120"/>
              </a:rPr>
              <a:t>The React.js frontend calls the Node.js + Express.js backend over REST APIs. The backend applies business logic and queries MySQL, then returns data for display.</a:t>
            </a:r>
            <a:endParaRPr lang="en-US" sz="1300" dirty="0"/>
          </a:p>
        </p:txBody>
      </p:sp>
      <p:sp>
        <p:nvSpPr>
          <p:cNvPr id="23" name="Text 21"/>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4" name="Text 22"/>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Abstract</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Project summary</a:t>
            </a:r>
            <a:endParaRPr lang="en-US" sz="1800" dirty="0"/>
          </a:p>
        </p:txBody>
      </p:sp>
      <p:sp>
        <p:nvSpPr>
          <p:cNvPr id="4" name="Shape 2"/>
          <p:cNvSpPr/>
          <p:nvPr/>
        </p:nvSpPr>
        <p:spPr>
          <a:xfrm>
            <a:off x="548640" y="1691640"/>
            <a:ext cx="11094415" cy="3931920"/>
          </a:xfrm>
          <a:prstGeom prst="roundRect">
            <a:avLst>
              <a:gd name="adj" fmla="val 1395"/>
            </a:avLst>
          </a:prstGeom>
          <a:solidFill>
            <a:srgbClr val="F4F8FA"/>
          </a:solidFill>
          <a:ln w="9525">
            <a:solidFill>
              <a:srgbClr val="E2E8EC"/>
            </a:solidFill>
            <a:prstDash val="solid"/>
          </a:ln>
        </p:spPr>
      </p:sp>
      <p:sp>
        <p:nvSpPr>
          <p:cNvPr id="5" name="Text 3"/>
          <p:cNvSpPr/>
          <p:nvPr/>
        </p:nvSpPr>
        <p:spPr>
          <a:xfrm>
            <a:off x="914400" y="1965960"/>
            <a:ext cx="10362895" cy="3383280"/>
          </a:xfrm>
          <a:prstGeom prst="rect">
            <a:avLst/>
          </a:prstGeom>
          <a:noFill/>
          <a:ln/>
        </p:spPr>
        <p:txBody>
          <a:bodyPr wrap="square" rtlCol="0" anchor="t"/>
          <a:lstStyle/>
          <a:p>
            <a:pPr indent="0" marL="0">
              <a:lnSpc>
                <a:spcPts val="2200"/>
              </a:lnSpc>
              <a:buNone/>
            </a:pPr>
            <a:r>
              <a:rPr lang="en-US" sz="1500" dirty="0">
                <a:solidFill>
                  <a:srgbClr val="1B2733"/>
                </a:solidFill>
                <a:latin typeface="Calibri" pitchFamily="34" charset="0"/>
                <a:ea typeface="Calibri" pitchFamily="34" charset="-122"/>
                <a:cs typeface="Calibri" pitchFamily="34" charset="-120"/>
              </a:rPr>
              <a:t>The Library &amp; Archives Self-Service Platform is a web-based application that lets members search the catalog, reserve resources, track borrowing history, and monitor fines without visiting the library in person. Today, these tasks depend on manual counters or partial web portals, leading to slow lookups, scattered records, and missed communication. The proposed system replaces these gaps with a single online platform built on React.js, Node.js with Express.js, and MySQL, offering real-time notifications, offline-friendly local caching, and background data synchronization. By automating registration, reservations, fine tracking, and alerts, the platform reduces manual workload for library staff and gives members a faster, more transparent way to access library services from anywhere.</a:t>
            </a:r>
            <a:endParaRPr lang="en-US" sz="1500" dirty="0"/>
          </a:p>
        </p:txBody>
      </p:sp>
      <p:sp>
        <p:nvSpPr>
          <p:cNvPr id="6" name="Text 4"/>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7" name="Text 5"/>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548640"/>
          </a:xfrm>
          <a:prstGeom prst="rect">
            <a:avLst/>
          </a:prstGeom>
          <a:noFill/>
          <a:ln/>
        </p:spPr>
        <p:txBody>
          <a:bodyPr wrap="square" rtlCol="0" anchor="ctr"/>
          <a:lstStyle/>
          <a:p>
            <a:pPr indent="0" marL="0">
              <a:buNone/>
            </a:pPr>
            <a:r>
              <a:rPr lang="en-US" sz="3200" b="1" dirty="0">
                <a:solidFill>
                  <a:srgbClr val="0B2F4A"/>
                </a:solidFill>
                <a:latin typeface="Cambria" pitchFamily="34" charset="0"/>
                <a:ea typeface="Cambria" pitchFamily="34" charset="-122"/>
                <a:cs typeface="Cambria" pitchFamily="34" charset="-120"/>
              </a:rPr>
              <a:t>Team Details</a:t>
            </a:r>
            <a:endParaRPr lang="en-US" sz="3200" dirty="0"/>
          </a:p>
        </p:txBody>
      </p:sp>
      <p:sp>
        <p:nvSpPr>
          <p:cNvPr id="3" name="Text 1"/>
          <p:cNvSpPr/>
          <p:nvPr/>
        </p:nvSpPr>
        <p:spPr>
          <a:xfrm>
            <a:off x="548640" y="960120"/>
            <a:ext cx="11094415" cy="411480"/>
          </a:xfrm>
          <a:prstGeom prst="rect">
            <a:avLst/>
          </a:prstGeom>
          <a:noFill/>
          <a:ln/>
        </p:spPr>
        <p:txBody>
          <a:bodyPr wrap="square" rtlCol="0" anchor="ctr"/>
          <a:lstStyle/>
          <a:p>
            <a:pPr indent="0" marL="0">
              <a:buNone/>
            </a:pPr>
            <a:r>
              <a:rPr lang="en-US" sz="1800" i="1" dirty="0">
                <a:solidFill>
                  <a:srgbClr val="1C7293"/>
                </a:solidFill>
                <a:latin typeface="Calibri" pitchFamily="34" charset="0"/>
                <a:ea typeface="Calibri" pitchFamily="34" charset="-122"/>
                <a:cs typeface="Calibri" pitchFamily="34" charset="-120"/>
              </a:rPr>
              <a:t>Section 10  •  Database and Backend Systems</a:t>
            </a:r>
            <a:endParaRPr lang="en-US" sz="1800" dirty="0"/>
          </a:p>
        </p:txBody>
      </p:sp>
      <p:sp>
        <p:nvSpPr>
          <p:cNvPr id="4" name="Shape 2"/>
          <p:cNvSpPr/>
          <p:nvPr/>
        </p:nvSpPr>
        <p:spPr>
          <a:xfrm>
            <a:off x="548640" y="1828800"/>
            <a:ext cx="3515258" cy="2743200"/>
          </a:xfrm>
          <a:prstGeom prst="roundRect">
            <a:avLst>
              <a:gd name="adj" fmla="val 2667"/>
            </a:avLst>
          </a:prstGeom>
          <a:solidFill>
            <a:srgbClr val="F4F8FA"/>
          </a:solidFill>
          <a:ln w="9525">
            <a:solidFill>
              <a:srgbClr val="E2E8EC"/>
            </a:solidFill>
            <a:prstDash val="solid"/>
          </a:ln>
        </p:spPr>
      </p:sp>
      <p:sp>
        <p:nvSpPr>
          <p:cNvPr id="5" name="Shape 3"/>
          <p:cNvSpPr/>
          <p:nvPr/>
        </p:nvSpPr>
        <p:spPr>
          <a:xfrm>
            <a:off x="1803349" y="2148840"/>
            <a:ext cx="1005840" cy="1005840"/>
          </a:xfrm>
          <a:prstGeom prst="ellipse">
            <a:avLst/>
          </a:prstGeom>
          <a:solidFill>
            <a:srgbClr val="0B2F4A"/>
          </a:solidFill>
          <a:ln/>
        </p:spPr>
      </p:sp>
      <p:sp>
        <p:nvSpPr>
          <p:cNvPr id="6" name="Text 4"/>
          <p:cNvSpPr/>
          <p:nvPr/>
        </p:nvSpPr>
        <p:spPr>
          <a:xfrm>
            <a:off x="1803349" y="2148840"/>
            <a:ext cx="100584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YR</a:t>
            </a:r>
            <a:endParaRPr lang="en-US" sz="2000" dirty="0"/>
          </a:p>
        </p:txBody>
      </p:sp>
      <p:sp>
        <p:nvSpPr>
          <p:cNvPr id="7" name="Text 5"/>
          <p:cNvSpPr/>
          <p:nvPr/>
        </p:nvSpPr>
        <p:spPr>
          <a:xfrm>
            <a:off x="548640" y="3337560"/>
            <a:ext cx="3515258" cy="36576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Yaswanth Reddy</a:t>
            </a:r>
            <a:endParaRPr lang="en-US" sz="1500" dirty="0"/>
          </a:p>
        </p:txBody>
      </p:sp>
      <p:sp>
        <p:nvSpPr>
          <p:cNvPr id="8" name="Text 6"/>
          <p:cNvSpPr/>
          <p:nvPr/>
        </p:nvSpPr>
        <p:spPr>
          <a:xfrm>
            <a:off x="548640" y="3703320"/>
            <a:ext cx="3515258" cy="274320"/>
          </a:xfrm>
          <a:prstGeom prst="rect">
            <a:avLst/>
          </a:prstGeom>
          <a:noFill/>
          <a:ln/>
        </p:spPr>
        <p:txBody>
          <a:bodyPr wrap="square" rtlCol="0" anchor="ctr"/>
          <a:lstStyle/>
          <a:p>
            <a:pPr algn="ctr" indent="0" marL="0">
              <a:buNone/>
            </a:pPr>
            <a:r>
              <a:rPr lang="en-US" sz="1100" dirty="0">
                <a:solidFill>
                  <a:srgbClr val="5B6B76"/>
                </a:solidFill>
                <a:latin typeface="Calibri" pitchFamily="34" charset="0"/>
                <a:ea typeface="Calibri" pitchFamily="34" charset="-122"/>
                <a:cs typeface="Calibri" pitchFamily="34" charset="-120"/>
              </a:rPr>
              <a:t>Roll No.</a:t>
            </a:r>
            <a:endParaRPr lang="en-US" sz="1100" dirty="0"/>
          </a:p>
        </p:txBody>
      </p:sp>
      <p:sp>
        <p:nvSpPr>
          <p:cNvPr id="9" name="Text 7"/>
          <p:cNvSpPr/>
          <p:nvPr/>
        </p:nvSpPr>
        <p:spPr>
          <a:xfrm>
            <a:off x="548640" y="3977640"/>
            <a:ext cx="3515258" cy="274320"/>
          </a:xfrm>
          <a:prstGeom prst="rect">
            <a:avLst/>
          </a:prstGeom>
          <a:noFill/>
          <a:ln/>
        </p:spPr>
        <p:txBody>
          <a:bodyPr wrap="square"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2520080048</a:t>
            </a:r>
            <a:endParaRPr lang="en-US" sz="1200" dirty="0"/>
          </a:p>
        </p:txBody>
      </p:sp>
      <p:sp>
        <p:nvSpPr>
          <p:cNvPr id="10" name="Shape 8"/>
          <p:cNvSpPr/>
          <p:nvPr/>
        </p:nvSpPr>
        <p:spPr>
          <a:xfrm>
            <a:off x="4338218" y="1828800"/>
            <a:ext cx="3515258" cy="2743200"/>
          </a:xfrm>
          <a:prstGeom prst="roundRect">
            <a:avLst>
              <a:gd name="adj" fmla="val 2667"/>
            </a:avLst>
          </a:prstGeom>
          <a:solidFill>
            <a:srgbClr val="F4F8FA"/>
          </a:solidFill>
          <a:ln w="9525">
            <a:solidFill>
              <a:srgbClr val="E2E8EC"/>
            </a:solidFill>
            <a:prstDash val="solid"/>
          </a:ln>
        </p:spPr>
      </p:sp>
      <p:sp>
        <p:nvSpPr>
          <p:cNvPr id="11" name="Shape 9"/>
          <p:cNvSpPr/>
          <p:nvPr/>
        </p:nvSpPr>
        <p:spPr>
          <a:xfrm>
            <a:off x="5592928" y="2148840"/>
            <a:ext cx="1005840" cy="1005840"/>
          </a:xfrm>
          <a:prstGeom prst="ellipse">
            <a:avLst/>
          </a:prstGeom>
          <a:solidFill>
            <a:srgbClr val="0B2F4A"/>
          </a:solidFill>
          <a:ln/>
        </p:spPr>
      </p:sp>
      <p:sp>
        <p:nvSpPr>
          <p:cNvPr id="12" name="Text 10"/>
          <p:cNvSpPr/>
          <p:nvPr/>
        </p:nvSpPr>
        <p:spPr>
          <a:xfrm>
            <a:off x="5592928" y="2148840"/>
            <a:ext cx="100584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KR</a:t>
            </a:r>
            <a:endParaRPr lang="en-US" sz="2000" dirty="0"/>
          </a:p>
        </p:txBody>
      </p:sp>
      <p:sp>
        <p:nvSpPr>
          <p:cNvPr id="13" name="Text 11"/>
          <p:cNvSpPr/>
          <p:nvPr/>
        </p:nvSpPr>
        <p:spPr>
          <a:xfrm>
            <a:off x="4338218" y="3337560"/>
            <a:ext cx="3515258" cy="36576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Kartheek Reddy</a:t>
            </a:r>
            <a:endParaRPr lang="en-US" sz="1500" dirty="0"/>
          </a:p>
        </p:txBody>
      </p:sp>
      <p:sp>
        <p:nvSpPr>
          <p:cNvPr id="14" name="Text 12"/>
          <p:cNvSpPr/>
          <p:nvPr/>
        </p:nvSpPr>
        <p:spPr>
          <a:xfrm>
            <a:off x="4338218" y="3703320"/>
            <a:ext cx="3515258" cy="274320"/>
          </a:xfrm>
          <a:prstGeom prst="rect">
            <a:avLst/>
          </a:prstGeom>
          <a:noFill/>
          <a:ln/>
        </p:spPr>
        <p:txBody>
          <a:bodyPr wrap="square" rtlCol="0" anchor="ctr"/>
          <a:lstStyle/>
          <a:p>
            <a:pPr algn="ctr" indent="0" marL="0">
              <a:buNone/>
            </a:pPr>
            <a:r>
              <a:rPr lang="en-US" sz="1100" dirty="0">
                <a:solidFill>
                  <a:srgbClr val="5B6B76"/>
                </a:solidFill>
                <a:latin typeface="Calibri" pitchFamily="34" charset="0"/>
                <a:ea typeface="Calibri" pitchFamily="34" charset="-122"/>
                <a:cs typeface="Calibri" pitchFamily="34" charset="-120"/>
              </a:rPr>
              <a:t>Roll No.</a:t>
            </a:r>
            <a:endParaRPr lang="en-US" sz="1100" dirty="0"/>
          </a:p>
        </p:txBody>
      </p:sp>
      <p:sp>
        <p:nvSpPr>
          <p:cNvPr id="15" name="Text 13"/>
          <p:cNvSpPr/>
          <p:nvPr/>
        </p:nvSpPr>
        <p:spPr>
          <a:xfrm>
            <a:off x="4338218" y="3977640"/>
            <a:ext cx="3515258" cy="274320"/>
          </a:xfrm>
          <a:prstGeom prst="rect">
            <a:avLst/>
          </a:prstGeom>
          <a:noFill/>
          <a:ln/>
        </p:spPr>
        <p:txBody>
          <a:bodyPr wrap="square"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2520090015</a:t>
            </a:r>
            <a:endParaRPr lang="en-US" sz="1200" dirty="0"/>
          </a:p>
        </p:txBody>
      </p:sp>
      <p:sp>
        <p:nvSpPr>
          <p:cNvPr id="16" name="Shape 14"/>
          <p:cNvSpPr/>
          <p:nvPr/>
        </p:nvSpPr>
        <p:spPr>
          <a:xfrm>
            <a:off x="8127797" y="1828800"/>
            <a:ext cx="3515258" cy="2743200"/>
          </a:xfrm>
          <a:prstGeom prst="roundRect">
            <a:avLst>
              <a:gd name="adj" fmla="val 2667"/>
            </a:avLst>
          </a:prstGeom>
          <a:solidFill>
            <a:srgbClr val="F4F8FA"/>
          </a:solidFill>
          <a:ln w="9525">
            <a:solidFill>
              <a:srgbClr val="E2E8EC"/>
            </a:solidFill>
            <a:prstDash val="solid"/>
          </a:ln>
        </p:spPr>
      </p:sp>
      <p:sp>
        <p:nvSpPr>
          <p:cNvPr id="17" name="Shape 15"/>
          <p:cNvSpPr/>
          <p:nvPr/>
        </p:nvSpPr>
        <p:spPr>
          <a:xfrm>
            <a:off x="9382506" y="2148840"/>
            <a:ext cx="1005840" cy="1005840"/>
          </a:xfrm>
          <a:prstGeom prst="ellipse">
            <a:avLst/>
          </a:prstGeom>
          <a:solidFill>
            <a:srgbClr val="0B2F4A"/>
          </a:solidFill>
          <a:ln/>
        </p:spPr>
      </p:sp>
      <p:sp>
        <p:nvSpPr>
          <p:cNvPr id="18" name="Text 16"/>
          <p:cNvSpPr/>
          <p:nvPr/>
        </p:nvSpPr>
        <p:spPr>
          <a:xfrm>
            <a:off x="9382506" y="2148840"/>
            <a:ext cx="1005840" cy="10058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VS</a:t>
            </a:r>
            <a:endParaRPr lang="en-US" sz="2000" dirty="0"/>
          </a:p>
        </p:txBody>
      </p:sp>
      <p:sp>
        <p:nvSpPr>
          <p:cNvPr id="19" name="Text 17"/>
          <p:cNvSpPr/>
          <p:nvPr/>
        </p:nvSpPr>
        <p:spPr>
          <a:xfrm>
            <a:off x="8127797" y="3337560"/>
            <a:ext cx="3515258" cy="365760"/>
          </a:xfrm>
          <a:prstGeom prst="rect">
            <a:avLst/>
          </a:prstGeom>
          <a:noFill/>
          <a:ln/>
        </p:spPr>
        <p:txBody>
          <a:bodyPr wrap="square" rtlCol="0" anchor="ctr"/>
          <a:lstStyle/>
          <a:p>
            <a:pPr algn="ctr" indent="0" marL="0">
              <a:buNone/>
            </a:pPr>
            <a:r>
              <a:rPr lang="en-US" sz="1500" b="1" dirty="0">
                <a:solidFill>
                  <a:srgbClr val="1B2733"/>
                </a:solidFill>
                <a:latin typeface="Calibri" pitchFamily="34" charset="0"/>
                <a:ea typeface="Calibri" pitchFamily="34" charset="-122"/>
                <a:cs typeface="Calibri" pitchFamily="34" charset="-120"/>
              </a:rPr>
              <a:t>Venkat Sai</a:t>
            </a:r>
            <a:endParaRPr lang="en-US" sz="1500" dirty="0"/>
          </a:p>
        </p:txBody>
      </p:sp>
      <p:sp>
        <p:nvSpPr>
          <p:cNvPr id="20" name="Text 18"/>
          <p:cNvSpPr/>
          <p:nvPr/>
        </p:nvSpPr>
        <p:spPr>
          <a:xfrm>
            <a:off x="8127797" y="3703320"/>
            <a:ext cx="3515258" cy="274320"/>
          </a:xfrm>
          <a:prstGeom prst="rect">
            <a:avLst/>
          </a:prstGeom>
          <a:noFill/>
          <a:ln/>
        </p:spPr>
        <p:txBody>
          <a:bodyPr wrap="square" rtlCol="0" anchor="ctr"/>
          <a:lstStyle/>
          <a:p>
            <a:pPr algn="ctr" indent="0" marL="0">
              <a:buNone/>
            </a:pPr>
            <a:r>
              <a:rPr lang="en-US" sz="1100" dirty="0">
                <a:solidFill>
                  <a:srgbClr val="5B6B76"/>
                </a:solidFill>
                <a:latin typeface="Calibri" pitchFamily="34" charset="0"/>
                <a:ea typeface="Calibri" pitchFamily="34" charset="-122"/>
                <a:cs typeface="Calibri" pitchFamily="34" charset="-120"/>
              </a:rPr>
              <a:t>Roll No.</a:t>
            </a:r>
            <a:endParaRPr lang="en-US" sz="1100" dirty="0"/>
          </a:p>
        </p:txBody>
      </p:sp>
      <p:sp>
        <p:nvSpPr>
          <p:cNvPr id="21" name="Text 19"/>
          <p:cNvSpPr/>
          <p:nvPr/>
        </p:nvSpPr>
        <p:spPr>
          <a:xfrm>
            <a:off x="8127797" y="3977640"/>
            <a:ext cx="3515258" cy="274320"/>
          </a:xfrm>
          <a:prstGeom prst="rect">
            <a:avLst/>
          </a:prstGeom>
          <a:noFill/>
          <a:ln/>
        </p:spPr>
        <p:txBody>
          <a:bodyPr wrap="square"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2520090034</a:t>
            </a:r>
            <a:endParaRPr lang="en-US" sz="1200" dirty="0"/>
          </a:p>
        </p:txBody>
      </p:sp>
      <p:sp>
        <p:nvSpPr>
          <p:cNvPr id="22" name="Text 20"/>
          <p:cNvSpPr/>
          <p:nvPr/>
        </p:nvSpPr>
        <p:spPr>
          <a:xfrm>
            <a:off x="548640" y="5120640"/>
            <a:ext cx="7315200" cy="320040"/>
          </a:xfrm>
          <a:prstGeom prst="rect">
            <a:avLst/>
          </a:prstGeom>
          <a:noFill/>
          <a:ln/>
        </p:spPr>
        <p:txBody>
          <a:bodyPr wrap="square" rtlCol="0" anchor="ctr"/>
          <a:lstStyle/>
          <a:p>
            <a:pPr indent="0" marL="0">
              <a:buNone/>
            </a:pPr>
            <a:r>
              <a:rPr lang="en-US" sz="1200" dirty="0">
                <a:solidFill>
                  <a:srgbClr val="5B6B76"/>
                </a:solidFill>
                <a:latin typeface="Calibri" pitchFamily="34" charset="0"/>
                <a:ea typeface="Calibri" pitchFamily="34" charset="-122"/>
                <a:cs typeface="Calibri" pitchFamily="34" charset="-120"/>
              </a:rPr>
              <a:t>Guide Name &amp; Signature: ______________________________</a:t>
            </a:r>
            <a:endParaRPr lang="en-US" sz="1200" dirty="0"/>
          </a:p>
        </p:txBody>
      </p:sp>
      <p:sp>
        <p:nvSpPr>
          <p:cNvPr id="23" name="Text 21"/>
          <p:cNvSpPr/>
          <p:nvPr/>
        </p:nvSpPr>
        <p:spPr>
          <a:xfrm>
            <a:off x="457200" y="6492240"/>
            <a:ext cx="7315200" cy="274320"/>
          </a:xfrm>
          <a:prstGeom prst="rect">
            <a:avLst/>
          </a:prstGeom>
          <a:noFill/>
          <a:ln/>
        </p:spPr>
        <p:txBody>
          <a:bodyPr wrap="square" rtlCol="0" anchor="ctr"/>
          <a:lstStyle/>
          <a:p>
            <a:pPr algn="l" indent="0" marL="0">
              <a:buNone/>
            </a:pPr>
            <a:r>
              <a:rPr lang="en-US" sz="1000" dirty="0">
                <a:solidFill>
                  <a:srgbClr val="5B6B76"/>
                </a:solidFill>
                <a:latin typeface="Calibri" pitchFamily="34" charset="0"/>
                <a:ea typeface="Calibri" pitchFamily="34" charset="-122"/>
                <a:cs typeface="Calibri" pitchFamily="34" charset="-120"/>
              </a:rPr>
              <a:t>Library &amp; Archives Self-Service Platform</a:t>
            </a:r>
            <a:endParaRPr lang="en-US" sz="1000" dirty="0"/>
          </a:p>
        </p:txBody>
      </p:sp>
      <p:sp>
        <p:nvSpPr>
          <p:cNvPr id="24" name="Text 22"/>
          <p:cNvSpPr/>
          <p:nvPr/>
        </p:nvSpPr>
        <p:spPr>
          <a:xfrm>
            <a:off x="11277295" y="6492240"/>
            <a:ext cx="457200" cy="274320"/>
          </a:xfrm>
          <a:prstGeom prst="rect">
            <a:avLst/>
          </a:prstGeom>
          <a:noFill/>
          <a:ln/>
        </p:spPr>
        <p:txBody>
          <a:bodyPr wrap="square" rtlCol="0" anchor="ctr"/>
          <a:lstStyle/>
          <a:p>
            <a:pPr algn="r" indent="0" marL="0">
              <a:buNone/>
            </a:pPr>
            <a:r>
              <a:rPr lang="en-US" sz="1000" dirty="0">
                <a:solidFill>
                  <a:srgbClr val="5B6B76"/>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2F4A"/>
        </a:solidFill>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21295C"/>
          </a:solidFill>
          <a:ln/>
        </p:spPr>
      </p:sp>
      <p:sp>
        <p:nvSpPr>
          <p:cNvPr id="3" name="Shape 1"/>
          <p:cNvSpPr/>
          <p:nvPr/>
        </p:nvSpPr>
        <p:spPr>
          <a:xfrm>
            <a:off x="10058400" y="4114800"/>
            <a:ext cx="3200400" cy="3200400"/>
          </a:xfrm>
          <a:prstGeom prst="ellipse">
            <a:avLst/>
          </a:prstGeom>
          <a:solidFill>
            <a:srgbClr val="1C7293"/>
          </a:solidFill>
          <a:ln/>
        </p:spPr>
      </p:sp>
      <p:sp>
        <p:nvSpPr>
          <p:cNvPr id="4" name="Text 2"/>
          <p:cNvSpPr/>
          <p:nvPr/>
        </p:nvSpPr>
        <p:spPr>
          <a:xfrm>
            <a:off x="0" y="2651760"/>
            <a:ext cx="12191695" cy="822960"/>
          </a:xfrm>
          <a:prstGeom prst="rect">
            <a:avLst/>
          </a:prstGeom>
          <a:noFill/>
          <a:ln/>
        </p:spPr>
        <p:txBody>
          <a:bodyPr wrap="square"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0" y="3383280"/>
            <a:ext cx="12191695" cy="457200"/>
          </a:xfrm>
          <a:prstGeom prst="rect">
            <a:avLst/>
          </a:prstGeom>
          <a:noFill/>
          <a:ln/>
        </p:spPr>
        <p:txBody>
          <a:bodyPr wrap="square" rtlCol="0" anchor="ctr"/>
          <a:lstStyle/>
          <a:p>
            <a:pPr algn="ctr" indent="0" marL="0">
              <a:buNone/>
            </a:pPr>
            <a:r>
              <a:rPr lang="en-US" sz="1800" i="1" dirty="0">
                <a:solidFill>
                  <a:srgbClr val="CFE8F3"/>
                </a:solidFill>
                <a:latin typeface="Calibri" pitchFamily="34" charset="0"/>
                <a:ea typeface="Calibri" pitchFamily="34" charset="-122"/>
                <a:cs typeface="Calibri" pitchFamily="34" charset="-120"/>
              </a:rPr>
              <a:t>Questions &amp; Discussion</a:t>
            </a:r>
            <a:endParaRPr lang="en-US" sz="1800" dirty="0"/>
          </a:p>
        </p:txBody>
      </p:sp>
      <p:sp>
        <p:nvSpPr>
          <p:cNvPr id="6" name="Text 4"/>
          <p:cNvSpPr/>
          <p:nvPr/>
        </p:nvSpPr>
        <p:spPr>
          <a:xfrm>
            <a:off x="0" y="6217920"/>
            <a:ext cx="12191695" cy="320040"/>
          </a:xfrm>
          <a:prstGeom prst="rect">
            <a:avLst/>
          </a:prstGeom>
          <a:noFill/>
          <a:ln/>
        </p:spPr>
        <p:txBody>
          <a:bodyPr wrap="square" rtlCol="0" anchor="ctr"/>
          <a:lstStyle/>
          <a:p>
            <a:pPr algn="ctr" indent="0" marL="0">
              <a:buNone/>
            </a:pPr>
            <a:r>
              <a:rPr lang="en-US" sz="1100" dirty="0">
                <a:solidFill>
                  <a:srgbClr val="6FA8C4"/>
                </a:solidFill>
                <a:latin typeface="Calibri" pitchFamily="34" charset="0"/>
                <a:ea typeface="Calibri" pitchFamily="34" charset="-122"/>
                <a:cs typeface="Calibri" pitchFamily="34" charset="-120"/>
              </a:rPr>
              <a:t>Library &amp; Archives Self-Service Platform  |  Section 10  |  Database and Backend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2026-09-15T05:13:15Z</dcterms:created>
  <dcterms:modified xsi:type="dcterms:W3CDTF">2026-09-15T05:13:15Z</dcterms:modified>
</cp:coreProperties>
</file>